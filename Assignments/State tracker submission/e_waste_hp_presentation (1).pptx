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slide" Target="slides/slide6.xml"/><Relationship Id="rId18" Type="http://schemas.openxmlformats.org/officeDocument/2006/relationships/slide" Target="slides/slide11.xml"/><Relationship Id="rId3" Type="http://schemas.openxmlformats.org/officeDocument/2006/relationships/presProps" Target="presProps.xml"/><Relationship Id="rId21" Type="http://schemas.openxmlformats.org/officeDocument/2006/relationships/customXml" Target="../customXml/item2.xml"/><Relationship Id="rId7" Type="http://schemas.openxmlformats.org/officeDocument/2006/relationships/slide" Target="slides/slide1.xml"/><Relationship Id="rId12" Type="http://schemas.openxmlformats.org/officeDocument/2006/relationships/slide" Target="slides/slide5.xml"/><Relationship Id="rId17" Type="http://schemas.openxmlformats.org/officeDocument/2006/relationships/slide" Target="slides/slide10.xml"/><Relationship Id="rId2" Type="http://schemas.openxmlformats.org/officeDocument/2006/relationships/printerSettings" Target="printerSettings/printerSettings1.bin"/><Relationship Id="rId16" Type="http://schemas.openxmlformats.org/officeDocument/2006/relationships/slide" Target="slides/slide9.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tableStyles" Target="tableStyles.xml"/><Relationship Id="rId11" Type="http://schemas.openxmlformats.org/officeDocument/2006/relationships/slide" Target="slides/slide4.xml"/><Relationship Id="rId5" Type="http://schemas.openxmlformats.org/officeDocument/2006/relationships/theme" Target="theme/theme1.xml"/><Relationship Id="rId15" Type="http://schemas.openxmlformats.org/officeDocument/2006/relationships/slide" Target="slides/slide8.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viewProps" Target="viewProps.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professor and classmates. Today, we are going to dive into a critical, yet often invisible, environmental challenge facing our state: Electronic Waste, or E-Waste. Himachal Pradesh is widely celebrated for its pristine mountain landscapes and tourism-driven economy. However, rapid urbanization and digital adoption are generating vast quantities of e-waste. In this presentation, we will analyze the state's official Q3 E-Waste Management Tracker. We will see that while the state has outstanding formal processing facilities downstream, we are facing a critical bottleneck upstream in how we collect and track this waste. I’ll take you through the hard statistics, a major data discrepancy in the official reports, the geographical disparities across our 12 districts, and finally, a concrete roadmap to transition Himachal Pradesh toward a safer, circular economy.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examine the policies, let's look at the baseline data. In Himachal Pradesh, our formal e-waste collection rate is a mere 7.7% (or 7.67% from district files). This means more than 92% of the electronics discarded in our state are completely bypassing formal channels. Now, as student researchers, we must point out a glaring mathematical curiosity in the official documents. The high-level operations dashboard reports 4.8 million kilograms of state generation, but if we manually add up the district-by-district breakdown from the same report, we get exactly 2.4 million kilograms—precisely half. This exact 2-to-1 ratio is repeated in the collection figures. This indicates a database duplication or scaling error in the state's reporting database. However, because both datasets yield the exact same 7.7% collection rate, the structural crisis remains identical: the formal take-back system is dry, and the vast majority of our waste is leaking into unmonitored areas.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evaluate how the state is performing as a regulatory unit, we look at the State E-Waste Management Tracker, which scores the state across seven categories. Himachal Pradesh has received an overall score of 54.2 out of 100, placing it in the 'Needs Improvement' category. This average score actually masks an extreme polarization. The state is not doing 'average' across the board. Instead, it is getting perfect scores in recycling capacity and public outreach, but scoring absolute zeroes in collection and informal integration. The system is completely disconnected. We have built world-class recycling facilities, but we have failed to build the physical collection networks to feed them. The pipeline is running dry.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scorecard breakdown. The 100 points are distributed across seven areas. Under the strengths, we see perfect scores of 10 out of 10 for Environmental Safeguards and Awareness, and a perfect 20 out of 20 for Formal Recycling. This means our authorized recyclers operate very safely and have massive capacities—achieving 311% of their recycling target. However, look at the critical gaps. We score a flat zero in Generation &amp; Inventory because our data is completely outdated, and we score a flat zero in Informal Sector Integration. Furthermore, our Collection Performance is critically low at just 2.9 out of 20 because our real collection is a tiny fraction of our 60% target. This scorecard proves that we are failing at the front-end of the pipeline. We have the 'exit' secured, but the 'entrance' is blocked.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look at the district-level data, the geographical inequality is startling. E-waste generation is heavily concentrated in high-population and urbanized districts. Kangra is our highest generator, producing over 468,000 kilograms of e-waste, followed closely by Shimla and Mandi. But let's look at the collection rates. Even in Kangra, which boasts the state's highest collection rate, we only collect 16.1%. Shimla and Solan only capture 10.7%. And in major districts like Mandi and Sirmaur, collection drops to a shocking 3.2% and 2.1% respectively. This means in Sirmaur, almost 240,000 kilograms of e-waste escape into the environment or the informal sector every year. The data confirms that our formal collection system is failing where the volume is highest.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are our collection rates so low? The answer is simple: lack of physical infrastructure. The entire state has only 15 registered collection centers for 12 districts. If we look at where they are, we see severe geographical clustering. Nine of these centers are crammed into Solan, Shimla, and Kangra. On the other hand, six districts have only a single center, and three districts—Bilaspur, Kinnaur, and the remote Lahaul &amp; Spiti—have absolutely zero registered centers. In a highly mountainous state with rugged terrain, we cannot expect a citizen in Kinnaur or Lahaul to travel hours to dispose of a mobile phone or laptop. Without local, convenient collection points, the formal system is physically inaccessible to half of the state's population.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design effective recycling solutions, we must understand what is actually in our e-waste stream. The data reveals that IT and Telecom equipment makes up 38.7% of our waste, and Consumer Electronics adds another 25.8%. Together, these two categories represent nearly two-thirds of the entire waste flow. This is a critical point. These devices are highly lucrative because they contain valuable materials like gold, silver, copper, and aluminum. However, they are also hazardous, packed with toxic heavy metals like lead, mercury, and cadmium. If these electronics are dismantled in open fields or backyards, these toxic chemicals leach directly into our soil, contaminating the mountainous water systems that supply millions downstream.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zero score in informal sector integration is perhaps the most critical social and environmental failure in the tracker. In the real world, the formal collection centers are bypassed because local scrap dealers, or 'Kabadiwalas,' have a massive, hyper-local collection reach. They go door-to-door. However, because they are entirely unintegrated and unregulated, they process these electronics using highly hazardous methods. They burn plastic cables in the open to extract copper, and bathe circuit boards in highly toxic acid to extract gold. This exposes workers to lethal fumes and dumps acid wastes directly into the ground. We cannot solve this crisis by ignoring or banning these informal collectors; they are the actual logistical backbone of collection. We must integrate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Extended Producer Responsibility, or EPR. This is the legal framework that mandates electronics manufacturers to collect back a percentage of the electronics they sell. On paper, this is one of our strongest performers, earning 11.3 out of 15 points. The state's 10 registered producer entities collected nearly 333,000 kilograms of waste against a target of 417,000 kilograms. This is a respectable 79.7% achievement rate. However, there is a structural catch. The EPR framework operates almost entirely in corporate silos. It is highly effective for taking back bulk IT equipment from large offices, but it is completely disconnected from municipal systems. The average household consumer has no access to this EPR channel, meaning household e-waste continues to leak into the informal scrap sector.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design effective solutions, we must synthesize the root causes of our mediocre 54.2 performance score. First, we have a total lack of front-end convenience; citizens simply have no place to drop off their old electronics. Second, we are operating in a data vacuum, setting policy using outdated population multipliers because we haven't conducted a baseline inventory survey in years. Third, we have severe geographic inequality; our physical collection centers are clustered in industrial and administrative hubs, ignoring our rural and mountainous districts. And finally, our policies exclude the informal sector, pushing 'Kabadiwalas' into the shadows where they continue to process waste using highly hazardous, crude techniques. This is why our system is broken.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recommendations address these root causes by focusing on three areas: physical infrastructure, social integration, and digital data. First, we must make formal collection convenient by mandating Local Urban Bodies to place drop-off bins in every municipal ward and enforcing retail take-back programs. Second, we must integrate the informal sector. Instead of trying to eliminate 'Kabadiwalas,' we should register them, train them in safe handling, and offer financial incentives to route their collected waste directly to authorized formal recyclers. Finally, we must establish data transparency by launching a mandatory digital ledger for bulk consumers and conducting a fresh state-wide survey to update our baseline numbers.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story of e-waste in Himachal Pradesh is not one of a total system failure. It is a story of a disconnected pipeline. The state has already done the hardest part: it has built optimal, high-quality downstream recycling facilities. But these facilities are running dry because our collection systems are broken. By implementing convenient ward-level drop-off bins, establishing digital tracking, and converting informal scrap dealers into formal green jobs, Himachal Pradesh can turn this environmental hazard into a thriving, safe circular economy. This is our roadmap to take the state from a mediocre 54.2 score to a sustainable, model mountain state. Thank you, and I am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C24"/>
        </a:solidFill>
        <a:effectLst/>
      </p:bgPr>
    </p:bg>
    <p:spTree>
      <p:nvGrpSpPr>
        <p:cNvPr id="1" name=""/>
        <p:cNvGrpSpPr/>
        <p:nvPr/>
      </p:nvGrpSpPr>
      <p:grpSpPr/>
      <p:sp>
        <p:nvSpPr>
          <p:cNvPr id="2" name="Rectangle 1"/>
          <p:cNvSpPr/>
          <p:nvPr/>
        </p:nvSpPr>
        <p:spPr>
          <a:xfrm>
            <a:off x="8229600" y="0"/>
            <a:ext cx="3962095" cy="6858000"/>
          </a:xfrm>
          <a:prstGeom prst="rect">
            <a:avLst/>
          </a:prstGeom>
          <a:solidFill>
            <a:srgbClr val="102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6858000" cy="2011680"/>
          </a:xfrm>
          <a:prstGeom prst="rect">
            <a:avLst/>
          </a:prstGeom>
          <a:noFill/>
        </p:spPr>
        <p:txBody>
          <a:bodyPr wrap="square">
            <a:spAutoFit/>
          </a:bodyPr>
          <a:lstStyle/>
          <a:p>
            <a:pPr>
              <a:spcAft>
                <a:spcPts val="1000"/>
              </a:spcAft>
              <a:defRPr sz="3600" b="1">
                <a:solidFill>
                  <a:srgbClr val="FFFFFF"/>
                </a:solidFill>
                <a:latin typeface="Georgia"/>
              </a:defRPr>
            </a:pPr>
            <a:r>
              <a:t>E-Waste Management in Himachal Pradesh</a:t>
            </a:r>
          </a:p>
          <a:p>
            <a:pPr>
              <a:defRPr sz="1800">
                <a:solidFill>
                  <a:srgbClr val="B4C8BE"/>
                </a:solidFill>
                <a:latin typeface="Arial"/>
              </a:defRPr>
            </a:pPr>
            <a:r>
              <a:t>Current Status, Critical Gaps, and Strategic Recommendations</a:t>
            </a:r>
          </a:p>
        </p:txBody>
      </p:sp>
      <p:sp>
        <p:nvSpPr>
          <p:cNvPr id="4" name="TextBox 3"/>
          <p:cNvSpPr txBox="1"/>
          <p:nvPr/>
        </p:nvSpPr>
        <p:spPr>
          <a:xfrm>
            <a:off x="914400" y="4389120"/>
            <a:ext cx="6858000" cy="1371600"/>
          </a:xfrm>
          <a:prstGeom prst="rect">
            <a:avLst/>
          </a:prstGeom>
          <a:noFill/>
        </p:spPr>
        <p:txBody>
          <a:bodyPr wrap="square">
            <a:spAutoFit/>
          </a:bodyPr>
          <a:lstStyle/>
          <a:p>
            <a:pPr>
              <a:lnSpc>
                <a:spcPct val="130000"/>
              </a:lnSpc>
              <a:defRPr sz="1400">
                <a:solidFill>
                  <a:srgbClr val="FFFFFF"/>
                </a:solidFill>
                <a:latin typeface="Arial"/>
              </a:defRPr>
            </a:pPr>
            <a:r>
              <a:t>College Classroom Presentation</a:t>
            </a:r>
            <a:br/>
            <a:r>
              <a:t>Presenter: [Your Name]</a:t>
            </a:r>
            <a:br/>
            <a:r>
              <a:t>Course: Environmental Studies &amp; Policy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TextBox 1"/>
          <p:cNvSpPr txBox="1"/>
          <p:nvPr/>
        </p:nvSpPr>
        <p:spPr>
          <a:xfrm>
            <a:off x="548640" y="365760"/>
            <a:ext cx="11094415" cy="731520"/>
          </a:xfrm>
          <a:prstGeom prst="rect">
            <a:avLst/>
          </a:prstGeom>
          <a:noFill/>
        </p:spPr>
        <p:txBody>
          <a:bodyPr wrap="square" tIns="0" bIns="0" lIns="0" rIns="0">
            <a:spAutoFit/>
          </a:bodyPr>
          <a:lstStyle/>
          <a:p>
            <a:pPr>
              <a:defRPr sz="2400" b="1">
                <a:solidFill>
                  <a:srgbClr val="1E2431"/>
                </a:solidFill>
                <a:latin typeface="Georgia"/>
              </a:defRPr>
            </a:pPr>
            <a:r>
              <a:t>Himachal Pradesh Collects Only 7.7% of Statewide E-Waste</a:t>
            </a:r>
          </a:p>
        </p:txBody>
      </p:sp>
      <p:sp>
        <p:nvSpPr>
          <p:cNvPr id="3" name="Rectangle 2"/>
          <p:cNvSpPr/>
          <p:nvPr/>
        </p:nvSpPr>
        <p:spPr>
          <a:xfrm>
            <a:off x="548640" y="1097280"/>
            <a:ext cx="11094415" cy="2540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11094415" cy="365760"/>
          </a:xfrm>
          <a:prstGeom prst="rect">
            <a:avLst/>
          </a:prstGeom>
          <a:noFill/>
        </p:spPr>
        <p:txBody>
          <a:bodyPr wrap="square" tIns="0" bIns="0" lIns="0" rIns="0">
            <a:spAutoFit/>
          </a:bodyPr>
          <a:lstStyle/>
          <a:p>
            <a:pPr>
              <a:defRPr sz="1000">
                <a:solidFill>
                  <a:srgbClr val="646E7D"/>
                </a:solidFill>
                <a:latin typeface="Arial"/>
              </a:defRPr>
            </a:pPr>
            <a:r>
              <a:t>E-Waste in Himachal Pradesh: Classroom Presentation | State Tracker &amp; Report Analysis</a:t>
            </a:r>
          </a:p>
          <a:p>
            <a:pPr algn="r">
              <a:defRPr sz="900">
                <a:solidFill>
                  <a:srgbClr val="646E7D"/>
                </a:solidFill>
                <a:latin typeface="Arial"/>
              </a:defRPr>
            </a:pPr>
            <a:r>
              <a:t>Slide 2</a:t>
            </a:r>
          </a:p>
        </p:txBody>
      </p:sp>
      <p:sp>
        <p:nvSpPr>
          <p:cNvPr id="5" name="Rounded Rectangle 4"/>
          <p:cNvSpPr/>
          <p:nvPr/>
        </p:nvSpPr>
        <p:spPr>
          <a:xfrm>
            <a:off x="548640" y="1463040"/>
            <a:ext cx="3383280" cy="2011680"/>
          </a:xfrm>
          <a:prstGeom prst="roundRect">
            <a:avLst/>
          </a:prstGeom>
          <a:solidFill>
            <a:srgbClr val="FFFFFF"/>
          </a:solidFill>
          <a:ln w="25400">
            <a:solidFill>
              <a:srgbClr val="D32F2F"/>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defRPr sz="1100" b="1">
                <a:solidFill>
                  <a:srgbClr val="646E7D"/>
                </a:solidFill>
                <a:latin typeface="Arial"/>
              </a:defRPr>
            </a:pPr>
            <a:r>
              <a:t>STATEWIDE COLLECTION</a:t>
            </a:r>
          </a:p>
          <a:p>
            <a:pPr algn="ctr">
              <a:spcBef>
                <a:spcPts val="500"/>
              </a:spcBef>
              <a:spcAft>
                <a:spcPts val="500"/>
              </a:spcAft>
              <a:defRPr sz="2800" b="1">
                <a:solidFill>
                  <a:srgbClr val="D32F2F"/>
                </a:solidFill>
                <a:latin typeface="Georgia"/>
              </a:defRPr>
            </a:pPr>
            <a:r>
              <a:t>7.7%</a:t>
            </a:r>
          </a:p>
          <a:p>
            <a:pPr algn="ctr">
              <a:defRPr sz="1000">
                <a:solidFill>
                  <a:srgbClr val="1E2431"/>
                </a:solidFill>
                <a:latin typeface="Arial"/>
              </a:defRPr>
            </a:pPr>
            <a:r>
              <a:t>Only 184,824 kg formally collected out of 2.4M kg generated across the 12 districts.</a:t>
            </a:r>
          </a:p>
        </p:txBody>
      </p:sp>
      <p:sp>
        <p:nvSpPr>
          <p:cNvPr id="6" name="Rounded Rectangle 5"/>
          <p:cNvSpPr/>
          <p:nvPr/>
        </p:nvSpPr>
        <p:spPr>
          <a:xfrm>
            <a:off x="4389120" y="1463040"/>
            <a:ext cx="3383280" cy="2011680"/>
          </a:xfrm>
          <a:prstGeom prst="roundRect">
            <a:avLst/>
          </a:prstGeom>
          <a:solidFill>
            <a:srgbClr val="FFFFFF"/>
          </a:solidFill>
          <a:ln w="254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defRPr sz="1100" b="1">
                <a:solidFill>
                  <a:srgbClr val="646E7D"/>
                </a:solidFill>
                <a:latin typeface="Arial"/>
              </a:defRPr>
            </a:pPr>
            <a:r>
              <a:t>THE DATA DISCREPANCY</a:t>
            </a:r>
          </a:p>
          <a:p>
            <a:pPr algn="ctr">
              <a:spcBef>
                <a:spcPts val="500"/>
              </a:spcBef>
              <a:spcAft>
                <a:spcPts val="500"/>
              </a:spcAft>
              <a:defRPr sz="2800" b="1">
                <a:solidFill>
                  <a:srgbClr val="1976D2"/>
                </a:solidFill>
                <a:latin typeface="Georgia"/>
              </a:defRPr>
            </a:pPr>
            <a:r>
              <a:t>4.8M vs 2.4M</a:t>
            </a:r>
          </a:p>
          <a:p>
            <a:pPr algn="ctr">
              <a:defRPr sz="1000">
                <a:solidFill>
                  <a:srgbClr val="1E2431"/>
                </a:solidFill>
                <a:latin typeface="Arial"/>
              </a:defRPr>
            </a:pPr>
            <a:r>
              <a:t>Dashboard reports 4.81M kg generated, but district inventories sum to exactly 2.40M kg.</a:t>
            </a:r>
          </a:p>
        </p:txBody>
      </p:sp>
      <p:sp>
        <p:nvSpPr>
          <p:cNvPr id="7" name="Rounded Rectangle 6"/>
          <p:cNvSpPr/>
          <p:nvPr/>
        </p:nvSpPr>
        <p:spPr>
          <a:xfrm>
            <a:off x="8229600" y="1463040"/>
            <a:ext cx="3383280" cy="2011680"/>
          </a:xfrm>
          <a:prstGeom prst="roundRect">
            <a:avLst/>
          </a:prstGeom>
          <a:solidFill>
            <a:srgbClr val="FFFFFF"/>
          </a:solidFill>
          <a:ln w="25400">
            <a:solidFill>
              <a:srgbClr val="106E41"/>
            </a:solidFill>
          </a:ln>
        </p:spPr>
        <p:style>
          <a:lnRef idx="1">
            <a:schemeClr val="accent1"/>
          </a:lnRef>
          <a:fillRef idx="3">
            <a:schemeClr val="accent1"/>
          </a:fillRef>
          <a:effectRef idx="2">
            <a:schemeClr val="accent1"/>
          </a:effectRef>
          <a:fontRef idx="minor">
            <a:schemeClr val="lt1"/>
          </a:fontRef>
        </p:style>
        <p:txBody>
          <a:bodyPr rtlCol="0" anchor="ctr" wrap="square" tIns="91440" lIns="137160" rIns="137160"/>
          <a:lstStyle/>
          <a:p>
            <a:pPr algn="ctr">
              <a:defRPr sz="1100" b="1">
                <a:solidFill>
                  <a:srgbClr val="646E7D"/>
                </a:solidFill>
                <a:latin typeface="Arial"/>
              </a:defRPr>
            </a:pPr>
            <a:r>
              <a:t>EPR COMPLIANCE</a:t>
            </a:r>
          </a:p>
          <a:p>
            <a:pPr algn="ctr">
              <a:spcBef>
                <a:spcPts val="500"/>
              </a:spcBef>
              <a:spcAft>
                <a:spcPts val="500"/>
              </a:spcAft>
              <a:defRPr sz="2800" b="1">
                <a:solidFill>
                  <a:srgbClr val="106E41"/>
                </a:solidFill>
                <a:latin typeface="Georgia"/>
              </a:defRPr>
            </a:pPr>
            <a:r>
              <a:t>79.7%</a:t>
            </a:r>
          </a:p>
          <a:p>
            <a:pPr algn="ctr">
              <a:defRPr sz="1000">
                <a:solidFill>
                  <a:srgbClr val="1E2431"/>
                </a:solidFill>
                <a:latin typeface="Arial"/>
              </a:defRPr>
            </a:pPr>
            <a:r>
              <a:t>Producers achieved 332,682 kg in collections against the 417,648 kg target.</a:t>
            </a:r>
          </a:p>
        </p:txBody>
      </p:sp>
      <p:sp>
        <p:nvSpPr>
          <p:cNvPr id="8" name="TextBox 7"/>
          <p:cNvSpPr txBox="1"/>
          <p:nvPr/>
        </p:nvSpPr>
        <p:spPr>
          <a:xfrm>
            <a:off x="548640" y="3749039"/>
            <a:ext cx="11094415" cy="2011680"/>
          </a:xfrm>
          <a:prstGeom prst="rect">
            <a:avLst/>
          </a:prstGeom>
          <a:noFill/>
        </p:spPr>
        <p:txBody>
          <a:bodyPr wrap="square" tIns="91440">
            <a:spAutoFit/>
          </a:bodyPr>
          <a:lstStyle/>
          <a:p>
            <a:pPr>
              <a:spcAft>
                <a:spcPts val="500"/>
              </a:spcAft>
              <a:defRPr sz="1600" b="1">
                <a:solidFill>
                  <a:srgbClr val="1E2431"/>
                </a:solidFill>
                <a:latin typeface="Georgia"/>
              </a:defRPr>
            </a:pPr>
            <a:r>
              <a:t>Analysis of the State E-Waste Flows:</a:t>
            </a:r>
          </a:p>
          <a:p>
            <a:pPr>
              <a:spcAft>
                <a:spcPts val="400"/>
              </a:spcAft>
              <a:defRPr sz="1200">
                <a:solidFill>
                  <a:srgbClr val="1E2431"/>
                </a:solidFill>
                <a:latin typeface="Arial"/>
              </a:defRPr>
            </a:pPr>
            <a:r>
              <a:t>• Extreme Collection Deficit: More than 92% of the generated e-waste escapes the formal regulatory network, leaking into the unmonitored informal sector.</a:t>
            </a:r>
          </a:p>
          <a:p>
            <a:pPr>
              <a:spcAft>
                <a:spcPts val="400"/>
              </a:spcAft>
              <a:defRPr sz="1200">
                <a:solidFill>
                  <a:srgbClr val="1E2431"/>
                </a:solidFill>
                <a:latin typeface="Arial"/>
              </a:defRPr>
            </a:pPr>
            <a:r>
              <a:t>• Critical Data Discrepancy (Academic Alert): High-level dashboard figures are exactly double the sum of the district-wise details (4.81M kg vs 2.40M kg generated; 369.6k kg vs 184.8k kg collected). This implies a duplication in the automated aggregation pipeline, though both yield an identical 7.7% rate.</a:t>
            </a:r>
          </a:p>
          <a:p>
            <a:pPr>
              <a:defRPr sz="1200">
                <a:solidFill>
                  <a:srgbClr val="1E2431"/>
                </a:solidFill>
                <a:latin typeface="Arial"/>
              </a:defRPr>
            </a:pPr>
            <a:r>
              <a:t>• Corporate vs. Public Divide: EPR compliance is relatively high (79.7%) but operates in business-to-business silos, failing to reach households.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TextBox 1"/>
          <p:cNvSpPr txBox="1"/>
          <p:nvPr/>
        </p:nvSpPr>
        <p:spPr>
          <a:xfrm>
            <a:off x="548640" y="365760"/>
            <a:ext cx="11094415" cy="731520"/>
          </a:xfrm>
          <a:prstGeom prst="rect">
            <a:avLst/>
          </a:prstGeom>
          <a:noFill/>
        </p:spPr>
        <p:txBody>
          <a:bodyPr wrap="square" tIns="0" bIns="0" lIns="0" rIns="0">
            <a:spAutoFit/>
          </a:bodyPr>
          <a:lstStyle/>
          <a:p>
            <a:pPr>
              <a:defRPr sz="2400" b="1">
                <a:solidFill>
                  <a:srgbClr val="1E2431"/>
                </a:solidFill>
                <a:latin typeface="Georgia"/>
              </a:defRPr>
            </a:pPr>
            <a:r>
              <a:t>State Scores 54.2 out of 100 as Upstream Collection Fails Downstream</a:t>
            </a:r>
          </a:p>
        </p:txBody>
      </p:sp>
      <p:sp>
        <p:nvSpPr>
          <p:cNvPr id="3" name="Rectangle 2"/>
          <p:cNvSpPr/>
          <p:nvPr/>
        </p:nvSpPr>
        <p:spPr>
          <a:xfrm>
            <a:off x="548640" y="1097280"/>
            <a:ext cx="11094415" cy="2540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11094415" cy="365760"/>
          </a:xfrm>
          <a:prstGeom prst="rect">
            <a:avLst/>
          </a:prstGeom>
          <a:noFill/>
        </p:spPr>
        <p:txBody>
          <a:bodyPr wrap="square" tIns="0" bIns="0" lIns="0" rIns="0">
            <a:spAutoFit/>
          </a:bodyPr>
          <a:lstStyle/>
          <a:p>
            <a:pPr>
              <a:defRPr sz="1000">
                <a:solidFill>
                  <a:srgbClr val="646E7D"/>
                </a:solidFill>
                <a:latin typeface="Arial"/>
              </a:defRPr>
            </a:pPr>
            <a:r>
              <a:t>E-Waste in Himachal Pradesh: Classroom Presentation | State Tracker &amp; Report Analysis</a:t>
            </a:r>
          </a:p>
          <a:p>
            <a:pPr algn="r">
              <a:defRPr sz="900">
                <a:solidFill>
                  <a:srgbClr val="646E7D"/>
                </a:solidFill>
                <a:latin typeface="Arial"/>
              </a:defRPr>
            </a:pPr>
            <a:r>
              <a:t>Slide 3</a:t>
            </a:r>
          </a:p>
        </p:txBody>
      </p:sp>
      <p:sp>
        <p:nvSpPr>
          <p:cNvPr id="5" name="Rounded Rectangle 4"/>
          <p:cNvSpPr/>
          <p:nvPr/>
        </p:nvSpPr>
        <p:spPr>
          <a:xfrm>
            <a:off x="548640" y="1645920"/>
            <a:ext cx="4114800" cy="4114800"/>
          </a:xfrm>
          <a:prstGeom prst="roundRect">
            <a:avLst/>
          </a:prstGeom>
          <a:solidFill>
            <a:srgbClr val="FFFFFF"/>
          </a:solidFill>
          <a:ln w="38100">
            <a:solidFill>
              <a:srgbClr val="D32F2F"/>
            </a:solidFill>
          </a:ln>
        </p:spPr>
        <p:style>
          <a:lnRef idx="1">
            <a:schemeClr val="accent1"/>
          </a:lnRef>
          <a:fillRef idx="3">
            <a:schemeClr val="accent1"/>
          </a:fillRef>
          <a:effectRef idx="2">
            <a:schemeClr val="accent1"/>
          </a:effectRef>
          <a:fontRef idx="minor">
            <a:schemeClr val="lt1"/>
          </a:fontRef>
        </p:style>
        <p:txBody>
          <a:bodyPr rtlCol="0" anchor="ctr" wrap="square" tIns="365760"/>
          <a:lstStyle/>
          <a:p>
            <a:pPr algn="ctr">
              <a:spcAft>
                <a:spcPts val="2000"/>
              </a:spcAft>
              <a:defRPr sz="1400" b="1">
                <a:solidFill>
                  <a:srgbClr val="646E7D"/>
                </a:solidFill>
                <a:latin typeface="Arial"/>
              </a:defRPr>
            </a:pPr>
            <a:r>
              <a:t>TOTAL STATE SCORE</a:t>
            </a:r>
          </a:p>
          <a:p>
            <a:pPr algn="ctr">
              <a:spcAft>
                <a:spcPts val="1000"/>
              </a:spcAft>
              <a:defRPr sz="7200" b="1">
                <a:solidFill>
                  <a:srgbClr val="D32F2F"/>
                </a:solidFill>
                <a:latin typeface="Georgia"/>
              </a:defRPr>
            </a:pPr>
            <a:r>
              <a:t>54.2</a:t>
            </a:r>
          </a:p>
          <a:p>
            <a:pPr algn="ctr">
              <a:spcAft>
                <a:spcPts val="1500"/>
              </a:spcAft>
              <a:defRPr sz="1600" b="1">
                <a:solidFill>
                  <a:srgbClr val="D32F2F"/>
                </a:solidFill>
                <a:latin typeface="Arial"/>
              </a:defRPr>
            </a:pPr>
            <a:r>
              <a:t>NEEDS IMPROVEMENT</a:t>
            </a:r>
          </a:p>
          <a:p>
            <a:pPr algn="ctr">
              <a:defRPr sz="1200">
                <a:solidFill>
                  <a:srgbClr val="646E7D"/>
                </a:solidFill>
                <a:latin typeface="Arial"/>
              </a:defRPr>
            </a:pPr>
            <a:r>
              <a:t>Performance Band: 45 - 64</a:t>
            </a:r>
          </a:p>
        </p:txBody>
      </p:sp>
      <p:sp>
        <p:nvSpPr>
          <p:cNvPr id="6" name="TextBox 5"/>
          <p:cNvSpPr txBox="1"/>
          <p:nvPr/>
        </p:nvSpPr>
        <p:spPr>
          <a:xfrm>
            <a:off x="5120640" y="1645920"/>
            <a:ext cx="6492240" cy="4114800"/>
          </a:xfrm>
          <a:prstGeom prst="rect">
            <a:avLst/>
          </a:prstGeom>
          <a:noFill/>
        </p:spPr>
        <p:txBody>
          <a:bodyPr wrap="square">
            <a:spAutoFit/>
          </a:bodyPr>
          <a:lstStyle/>
          <a:p>
            <a:pPr>
              <a:spcAft>
                <a:spcPts val="1500"/>
              </a:spcAft>
              <a:defRPr sz="2000" b="1">
                <a:solidFill>
                  <a:srgbClr val="1E2431"/>
                </a:solidFill>
                <a:latin typeface="Georgia"/>
              </a:defRPr>
            </a:pPr>
            <a:r>
              <a:t>The State E-Waste Tracker Paradox:</a:t>
            </a:r>
          </a:p>
          <a:p>
            <a:pPr>
              <a:spcAft>
                <a:spcPts val="1000"/>
              </a:spcAft>
              <a:defRPr sz="1300">
                <a:solidFill>
                  <a:srgbClr val="1E2431"/>
                </a:solidFill>
                <a:latin typeface="Arial"/>
              </a:defRPr>
            </a:pPr>
            <a:r>
              <a:t>• Extreme System Polarization: The score is not an average of moderate performance. Instead, it represents a direct clash between state-of-the-art facilities and a total absence of formal collection networks.</a:t>
            </a:r>
          </a:p>
          <a:p>
            <a:pPr>
              <a:spcAft>
                <a:spcPts val="1000"/>
              </a:spcAft>
              <a:defRPr sz="1300">
                <a:solidFill>
                  <a:srgbClr val="1E2431"/>
                </a:solidFill>
                <a:latin typeface="Arial"/>
              </a:defRPr>
            </a:pPr>
            <a:r>
              <a:t>• Upstream Deficit (0/15 &amp; 0/10): The state fails completely in Generation &amp; Inventory and Informal Sector Integration, receiving flat zero scores in both.</a:t>
            </a:r>
          </a:p>
          <a:p>
            <a:pPr>
              <a:defRPr sz="1300">
                <a:solidFill>
                  <a:srgbClr val="1E2431"/>
                </a:solidFill>
                <a:latin typeface="Arial"/>
              </a:defRPr>
            </a:pPr>
            <a:r>
              <a:t>• Downstream Sufficiency (20/20 &amp; 10/10): Authorized recyclers achieve a perfect score for processing capacity and environmental safeguards. The processing pipeline is secure, but remains dry.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TextBox 1"/>
          <p:cNvSpPr txBox="1"/>
          <p:nvPr/>
        </p:nvSpPr>
        <p:spPr>
          <a:xfrm>
            <a:off x="548640" y="365760"/>
            <a:ext cx="11094415" cy="731520"/>
          </a:xfrm>
          <a:prstGeom prst="rect">
            <a:avLst/>
          </a:prstGeom>
          <a:noFill/>
        </p:spPr>
        <p:txBody>
          <a:bodyPr wrap="square" tIns="0" bIns="0" lIns="0" rIns="0">
            <a:spAutoFit/>
          </a:bodyPr>
          <a:lstStyle/>
          <a:p>
            <a:pPr>
              <a:defRPr sz="2400" b="1">
                <a:solidFill>
                  <a:srgbClr val="1E2431"/>
                </a:solidFill>
                <a:latin typeface="Georgia"/>
              </a:defRPr>
            </a:pPr>
            <a:r>
              <a:t>Four Critical Gaps Offset Three Perfect Scores in State Scorecard</a:t>
            </a:r>
          </a:p>
        </p:txBody>
      </p:sp>
      <p:sp>
        <p:nvSpPr>
          <p:cNvPr id="3" name="Rectangle 2"/>
          <p:cNvSpPr/>
          <p:nvPr/>
        </p:nvSpPr>
        <p:spPr>
          <a:xfrm>
            <a:off x="548640" y="1097280"/>
            <a:ext cx="11094415" cy="2540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11094415" cy="365760"/>
          </a:xfrm>
          <a:prstGeom prst="rect">
            <a:avLst/>
          </a:prstGeom>
          <a:noFill/>
        </p:spPr>
        <p:txBody>
          <a:bodyPr wrap="square" tIns="0" bIns="0" lIns="0" rIns="0">
            <a:spAutoFit/>
          </a:bodyPr>
          <a:lstStyle/>
          <a:p>
            <a:pPr>
              <a:defRPr sz="1000">
                <a:solidFill>
                  <a:srgbClr val="646E7D"/>
                </a:solidFill>
                <a:latin typeface="Arial"/>
              </a:defRPr>
            </a:pPr>
            <a:r>
              <a:t>E-Waste in Himachal Pradesh: Classroom Presentation | State Tracker &amp; Report Analysis</a:t>
            </a:r>
          </a:p>
          <a:p>
            <a:pPr algn="r">
              <a:defRPr sz="900">
                <a:solidFill>
                  <a:srgbClr val="646E7D"/>
                </a:solidFill>
                <a:latin typeface="Arial"/>
              </a:defRPr>
            </a:pPr>
            <a:r>
              <a:t>Slide 4</a:t>
            </a:r>
          </a:p>
        </p:txBody>
      </p:sp>
      <p:graphicFrame>
        <p:nvGraphicFramePr>
          <p:cNvPr id="5" name="Table 4"/>
          <p:cNvGraphicFramePr>
            <a:graphicFrameLocks noGrp="1"/>
          </p:cNvGraphicFramePr>
          <p:nvPr/>
        </p:nvGraphicFramePr>
        <p:xfrm>
          <a:off x="548640" y="1645920"/>
          <a:ext cx="11094415" cy="4114800"/>
        </p:xfrm>
        <a:graphic>
          <a:graphicData uri="http://schemas.openxmlformats.org/drawingml/2006/table">
            <a:tbl>
              <a:tblPr firstRow="1" bandRow="1">
                <a:tableStyleId>{5C22544A-7EE6-4342-B048-85BDC9FD1C3A}</a:tableStyleId>
              </a:tblPr>
              <a:tblGrid>
                <a:gridCol w="3840480"/>
                <a:gridCol w="1645920"/>
                <a:gridCol w="2011680"/>
                <a:gridCol w="3596335"/>
              </a:tblGrid>
              <a:tr h="514350">
                <a:tc>
                  <a:txBody>
                    <a:bodyPr/>
                    <a:lstStyle/>
                    <a:p>
                      <a:pPr algn="ctr">
                        <a:defRPr sz="1200" b="1">
                          <a:solidFill>
                            <a:srgbClr val="FFFFFF"/>
                          </a:solidFill>
                          <a:latin typeface="Arial"/>
                        </a:defRPr>
                      </a:pPr>
                      <a:r>
                        <a:t>Performance Category</a:t>
                      </a:r>
                    </a:p>
                  </a:txBody>
                  <a:tcPr>
                    <a:solidFill>
                      <a:srgbClr val="1A2C24"/>
                    </a:solidFill>
                  </a:tcPr>
                </a:tc>
                <a:tc>
                  <a:txBody>
                    <a:bodyPr/>
                    <a:lstStyle/>
                    <a:p>
                      <a:pPr algn="ctr">
                        <a:defRPr sz="1200" b="1">
                          <a:solidFill>
                            <a:srgbClr val="FFFFFF"/>
                          </a:solidFill>
                          <a:latin typeface="Arial"/>
                        </a:defRPr>
                      </a:pPr>
                      <a:r>
                        <a:t>Max Weight</a:t>
                      </a:r>
                    </a:p>
                  </a:txBody>
                  <a:tcPr>
                    <a:solidFill>
                      <a:srgbClr val="1A2C24"/>
                    </a:solidFill>
                  </a:tcPr>
                </a:tc>
                <a:tc>
                  <a:txBody>
                    <a:bodyPr/>
                    <a:lstStyle/>
                    <a:p>
                      <a:pPr algn="ctr">
                        <a:defRPr sz="1200" b="1">
                          <a:solidFill>
                            <a:srgbClr val="FFFFFF"/>
                          </a:solidFill>
                          <a:latin typeface="Arial"/>
                        </a:defRPr>
                      </a:pPr>
                      <a:r>
                        <a:t>Score Earned</a:t>
                      </a:r>
                    </a:p>
                  </a:txBody>
                  <a:tcPr>
                    <a:solidFill>
                      <a:srgbClr val="1A2C24"/>
                    </a:solidFill>
                  </a:tcPr>
                </a:tc>
                <a:tc>
                  <a:txBody>
                    <a:bodyPr/>
                    <a:lstStyle/>
                    <a:p>
                      <a:pPr algn="ctr">
                        <a:defRPr sz="1200" b="1">
                          <a:solidFill>
                            <a:srgbClr val="FFFFFF"/>
                          </a:solidFill>
                          <a:latin typeface="Arial"/>
                        </a:defRPr>
                      </a:pPr>
                      <a:r>
                        <a:t>Status / Core Observation</a:t>
                      </a:r>
                    </a:p>
                  </a:txBody>
                  <a:tcPr>
                    <a:solidFill>
                      <a:srgbClr val="1A2C24"/>
                    </a:solidFill>
                  </a:tcPr>
                </a:tc>
              </a:tr>
              <a:tr h="514350">
                <a:tc>
                  <a:txBody>
                    <a:bodyPr/>
                    <a:lstStyle/>
                    <a:p>
                      <a:pPr algn="l">
                        <a:defRPr sz="1100">
                          <a:solidFill>
                            <a:srgbClr val="1E2431"/>
                          </a:solidFill>
                          <a:latin typeface="Arial"/>
                        </a:defRPr>
                      </a:pPr>
                      <a:r>
                        <a:t>Generation &amp; Inventory</a:t>
                      </a:r>
                    </a:p>
                  </a:txBody>
                  <a:tcPr>
                    <a:solidFill>
                      <a:srgbClr val="FFFFFF"/>
                    </a:solidFill>
                  </a:tcPr>
                </a:tc>
                <a:tc>
                  <a:txBody>
                    <a:bodyPr/>
                    <a:lstStyle/>
                    <a:p>
                      <a:pPr algn="ctr">
                        <a:defRPr sz="1100">
                          <a:solidFill>
                            <a:srgbClr val="1E2431"/>
                          </a:solidFill>
                          <a:latin typeface="Arial"/>
                        </a:defRPr>
                      </a:pPr>
                      <a:r>
                        <a:t>15.0</a:t>
                      </a:r>
                    </a:p>
                  </a:txBody>
                  <a:tcPr>
                    <a:solidFill>
                      <a:srgbClr val="FFFFFF"/>
                    </a:solidFill>
                  </a:tcPr>
                </a:tc>
                <a:tc>
                  <a:txBody>
                    <a:bodyPr/>
                    <a:lstStyle/>
                    <a:p>
                      <a:pPr algn="ctr">
                        <a:defRPr sz="1100" b="1">
                          <a:solidFill>
                            <a:srgbClr val="D32F2F"/>
                          </a:solidFill>
                          <a:latin typeface="Arial"/>
                        </a:defRPr>
                      </a:pPr>
                      <a:r>
                        <a:t>0.0</a:t>
                      </a:r>
                    </a:p>
                  </a:txBody>
                  <a:tcPr>
                    <a:solidFill>
                      <a:srgbClr val="FFFFFF"/>
                    </a:solidFill>
                  </a:tcPr>
                </a:tc>
                <a:tc>
                  <a:txBody>
                    <a:bodyPr/>
                    <a:lstStyle/>
                    <a:p>
                      <a:pPr algn="l">
                        <a:defRPr sz="1100" b="1">
                          <a:solidFill>
                            <a:srgbClr val="D32F2F"/>
                          </a:solidFill>
                          <a:latin typeface="Arial"/>
                        </a:defRPr>
                      </a:pPr>
                      <a:r>
                        <a:t>Critical Gap: Outdated baseline data</a:t>
                      </a:r>
                    </a:p>
                  </a:txBody>
                  <a:tcPr>
                    <a:solidFill>
                      <a:srgbClr val="FFFFFF"/>
                    </a:solidFill>
                  </a:tcPr>
                </a:tc>
              </a:tr>
              <a:tr h="514350">
                <a:tc>
                  <a:txBody>
                    <a:bodyPr/>
                    <a:lstStyle/>
                    <a:p>
                      <a:pPr algn="l">
                        <a:defRPr sz="1100">
                          <a:solidFill>
                            <a:srgbClr val="1E2431"/>
                          </a:solidFill>
                          <a:latin typeface="Arial"/>
                        </a:defRPr>
                      </a:pPr>
                      <a:r>
                        <a:t>Collection Performance</a:t>
                      </a:r>
                    </a:p>
                  </a:txBody>
                  <a:tcPr>
                    <a:solidFill>
                      <a:srgbClr val="EBEDF1"/>
                    </a:solidFill>
                  </a:tcPr>
                </a:tc>
                <a:tc>
                  <a:txBody>
                    <a:bodyPr/>
                    <a:lstStyle/>
                    <a:p>
                      <a:pPr algn="ctr">
                        <a:defRPr sz="1100">
                          <a:solidFill>
                            <a:srgbClr val="1E2431"/>
                          </a:solidFill>
                          <a:latin typeface="Arial"/>
                        </a:defRPr>
                      </a:pPr>
                      <a:r>
                        <a:t>20.0</a:t>
                      </a:r>
                    </a:p>
                  </a:txBody>
                  <a:tcPr>
                    <a:solidFill>
                      <a:srgbClr val="EBEDF1"/>
                    </a:solidFill>
                  </a:tcPr>
                </a:tc>
                <a:tc>
                  <a:txBody>
                    <a:bodyPr/>
                    <a:lstStyle/>
                    <a:p>
                      <a:pPr algn="ctr">
                        <a:defRPr sz="1100" b="1">
                          <a:solidFill>
                            <a:srgbClr val="D32F2F"/>
                          </a:solidFill>
                          <a:latin typeface="Arial"/>
                        </a:defRPr>
                      </a:pPr>
                      <a:r>
                        <a:t>2.9</a:t>
                      </a:r>
                    </a:p>
                  </a:txBody>
                  <a:tcPr>
                    <a:solidFill>
                      <a:srgbClr val="EBEDF1"/>
                    </a:solidFill>
                  </a:tcPr>
                </a:tc>
                <a:tc>
                  <a:txBody>
                    <a:bodyPr/>
                    <a:lstStyle/>
                    <a:p>
                      <a:pPr algn="l">
                        <a:defRPr sz="1100" b="1">
                          <a:solidFill>
                            <a:srgbClr val="D32F2F"/>
                          </a:solidFill>
                          <a:latin typeface="Arial"/>
                        </a:defRPr>
                      </a:pPr>
                      <a:r>
                        <a:t>Critical Gap: Achieved only 8.7% collection</a:t>
                      </a:r>
                    </a:p>
                  </a:txBody>
                  <a:tcPr>
                    <a:solidFill>
                      <a:srgbClr val="EBEDF1"/>
                    </a:solidFill>
                  </a:tcPr>
                </a:tc>
              </a:tr>
              <a:tr h="514350">
                <a:tc>
                  <a:txBody>
                    <a:bodyPr/>
                    <a:lstStyle/>
                    <a:p>
                      <a:pPr algn="l">
                        <a:defRPr sz="1100">
                          <a:solidFill>
                            <a:srgbClr val="1E2431"/>
                          </a:solidFill>
                          <a:latin typeface="Arial"/>
                        </a:defRPr>
                      </a:pPr>
                      <a:r>
                        <a:t>Formal Recycling &amp; Treatment</a:t>
                      </a:r>
                    </a:p>
                  </a:txBody>
                  <a:tcPr>
                    <a:solidFill>
                      <a:srgbClr val="FFFFFF"/>
                    </a:solidFill>
                  </a:tcPr>
                </a:tc>
                <a:tc>
                  <a:txBody>
                    <a:bodyPr/>
                    <a:lstStyle/>
                    <a:p>
                      <a:pPr algn="ctr">
                        <a:defRPr sz="1100">
                          <a:solidFill>
                            <a:srgbClr val="1E2431"/>
                          </a:solidFill>
                          <a:latin typeface="Arial"/>
                        </a:defRPr>
                      </a:pPr>
                      <a:r>
                        <a:t>20.0</a:t>
                      </a:r>
                    </a:p>
                  </a:txBody>
                  <a:tcPr>
                    <a:solidFill>
                      <a:srgbClr val="FFFFFF"/>
                    </a:solidFill>
                  </a:tcPr>
                </a:tc>
                <a:tc>
                  <a:txBody>
                    <a:bodyPr/>
                    <a:lstStyle/>
                    <a:p>
                      <a:pPr algn="ctr">
                        <a:defRPr sz="1100" b="1">
                          <a:solidFill>
                            <a:srgbClr val="106E41"/>
                          </a:solidFill>
                          <a:latin typeface="Arial"/>
                        </a:defRPr>
                      </a:pPr>
                      <a:r>
                        <a:t>20.0</a:t>
                      </a:r>
                    </a:p>
                  </a:txBody>
                  <a:tcPr>
                    <a:solidFill>
                      <a:srgbClr val="FFFFFF"/>
                    </a:solidFill>
                  </a:tcPr>
                </a:tc>
                <a:tc>
                  <a:txBody>
                    <a:bodyPr/>
                    <a:lstStyle/>
                    <a:p>
                      <a:pPr algn="l">
                        <a:defRPr sz="1100" b="1">
                          <a:solidFill>
                            <a:srgbClr val="106E41"/>
                          </a:solidFill>
                          <a:latin typeface="Arial"/>
                        </a:defRPr>
                      </a:pPr>
                      <a:r>
                        <a:t>Optimal: Recycler capacity exceeds targets</a:t>
                      </a:r>
                    </a:p>
                  </a:txBody>
                  <a:tcPr>
                    <a:solidFill>
                      <a:srgbClr val="FFFFFF"/>
                    </a:solidFill>
                  </a:tcPr>
                </a:tc>
              </a:tr>
              <a:tr h="514350">
                <a:tc>
                  <a:txBody>
                    <a:bodyPr/>
                    <a:lstStyle/>
                    <a:p>
                      <a:pPr algn="l">
                        <a:defRPr sz="1100">
                          <a:solidFill>
                            <a:srgbClr val="1E2431"/>
                          </a:solidFill>
                          <a:latin typeface="Arial"/>
                        </a:defRPr>
                      </a:pPr>
                      <a:r>
                        <a:t>Regulatory Compliance</a:t>
                      </a:r>
                    </a:p>
                  </a:txBody>
                  <a:tcPr>
                    <a:solidFill>
                      <a:srgbClr val="EBEDF1"/>
                    </a:solidFill>
                  </a:tcPr>
                </a:tc>
                <a:tc>
                  <a:txBody>
                    <a:bodyPr/>
                    <a:lstStyle/>
                    <a:p>
                      <a:pPr algn="ctr">
                        <a:defRPr sz="1100">
                          <a:solidFill>
                            <a:srgbClr val="1E2431"/>
                          </a:solidFill>
                          <a:latin typeface="Arial"/>
                        </a:defRPr>
                      </a:pPr>
                      <a:r>
                        <a:t>15.0</a:t>
                      </a:r>
                    </a:p>
                  </a:txBody>
                  <a:tcPr>
                    <a:solidFill>
                      <a:srgbClr val="EBEDF1"/>
                    </a:solidFill>
                  </a:tcPr>
                </a:tc>
                <a:tc>
                  <a:txBody>
                    <a:bodyPr/>
                    <a:lstStyle/>
                    <a:p>
                      <a:pPr algn="ctr">
                        <a:defRPr sz="1100" b="1">
                          <a:solidFill>
                            <a:srgbClr val="1976D2"/>
                          </a:solidFill>
                          <a:latin typeface="Arial"/>
                        </a:defRPr>
                      </a:pPr>
                      <a:r>
                        <a:t>11.3</a:t>
                      </a:r>
                    </a:p>
                  </a:txBody>
                  <a:tcPr>
                    <a:solidFill>
                      <a:srgbClr val="EBEDF1"/>
                    </a:solidFill>
                  </a:tcPr>
                </a:tc>
                <a:tc>
                  <a:txBody>
                    <a:bodyPr/>
                    <a:lstStyle/>
                    <a:p>
                      <a:pPr algn="l">
                        <a:defRPr sz="1100">
                          <a:solidFill>
                            <a:srgbClr val="1E2431"/>
                          </a:solidFill>
                          <a:latin typeface="Arial"/>
                        </a:defRPr>
                      </a:pPr>
                      <a:r>
                        <a:t>Adequate: Solid producer registration rates</a:t>
                      </a:r>
                    </a:p>
                  </a:txBody>
                  <a:tcPr>
                    <a:solidFill>
                      <a:srgbClr val="EBEDF1"/>
                    </a:solidFill>
                  </a:tcPr>
                </a:tc>
              </a:tr>
              <a:tr h="514350">
                <a:tc>
                  <a:txBody>
                    <a:bodyPr/>
                    <a:lstStyle/>
                    <a:p>
                      <a:pPr algn="l">
                        <a:defRPr sz="1100">
                          <a:solidFill>
                            <a:srgbClr val="1E2431"/>
                          </a:solidFill>
                          <a:latin typeface="Arial"/>
                        </a:defRPr>
                      </a:pPr>
                      <a:r>
                        <a:t>Informal Sector Integration</a:t>
                      </a:r>
                    </a:p>
                  </a:txBody>
                  <a:tcPr>
                    <a:solidFill>
                      <a:srgbClr val="FFFFFF"/>
                    </a:solidFill>
                  </a:tcPr>
                </a:tc>
                <a:tc>
                  <a:txBody>
                    <a:bodyPr/>
                    <a:lstStyle/>
                    <a:p>
                      <a:pPr algn="ctr">
                        <a:defRPr sz="1100">
                          <a:solidFill>
                            <a:srgbClr val="1E2431"/>
                          </a:solidFill>
                          <a:latin typeface="Arial"/>
                        </a:defRPr>
                      </a:pPr>
                      <a:r>
                        <a:t>10.0</a:t>
                      </a:r>
                    </a:p>
                  </a:txBody>
                  <a:tcPr>
                    <a:solidFill>
                      <a:srgbClr val="FFFFFF"/>
                    </a:solidFill>
                  </a:tcPr>
                </a:tc>
                <a:tc>
                  <a:txBody>
                    <a:bodyPr/>
                    <a:lstStyle/>
                    <a:p>
                      <a:pPr algn="ctr">
                        <a:defRPr sz="1100" b="1">
                          <a:solidFill>
                            <a:srgbClr val="D32F2F"/>
                          </a:solidFill>
                          <a:latin typeface="Arial"/>
                        </a:defRPr>
                      </a:pPr>
                      <a:r>
                        <a:t>0.0</a:t>
                      </a:r>
                    </a:p>
                  </a:txBody>
                  <a:tcPr>
                    <a:solidFill>
                      <a:srgbClr val="FFFFFF"/>
                    </a:solidFill>
                  </a:tcPr>
                </a:tc>
                <a:tc>
                  <a:txBody>
                    <a:bodyPr/>
                    <a:lstStyle/>
                    <a:p>
                      <a:pPr algn="l">
                        <a:defRPr sz="1100" b="1">
                          <a:solidFill>
                            <a:srgbClr val="D32F2F"/>
                          </a:solidFill>
                          <a:latin typeface="Arial"/>
                        </a:defRPr>
                      </a:pPr>
                      <a:r>
                        <a:t>Critical Gap: Zero scrap dealer formalization</a:t>
                      </a:r>
                    </a:p>
                  </a:txBody>
                  <a:tcPr>
                    <a:solidFill>
                      <a:srgbClr val="FFFFFF"/>
                    </a:solidFill>
                  </a:tcPr>
                </a:tc>
              </a:tr>
              <a:tr h="514350">
                <a:tc>
                  <a:txBody>
                    <a:bodyPr/>
                    <a:lstStyle/>
                    <a:p>
                      <a:pPr algn="l">
                        <a:defRPr sz="1100">
                          <a:solidFill>
                            <a:srgbClr val="1E2431"/>
                          </a:solidFill>
                          <a:latin typeface="Arial"/>
                        </a:defRPr>
                      </a:pPr>
                      <a:r>
                        <a:t>Environmental &amp; Health Safeguards</a:t>
                      </a:r>
                    </a:p>
                  </a:txBody>
                  <a:tcPr>
                    <a:solidFill>
                      <a:srgbClr val="EBEDF1"/>
                    </a:solidFill>
                  </a:tcPr>
                </a:tc>
                <a:tc>
                  <a:txBody>
                    <a:bodyPr/>
                    <a:lstStyle/>
                    <a:p>
                      <a:pPr algn="ctr">
                        <a:defRPr sz="1100">
                          <a:solidFill>
                            <a:srgbClr val="1E2431"/>
                          </a:solidFill>
                          <a:latin typeface="Arial"/>
                        </a:defRPr>
                      </a:pPr>
                      <a:r>
                        <a:t>10.0</a:t>
                      </a:r>
                    </a:p>
                  </a:txBody>
                  <a:tcPr>
                    <a:solidFill>
                      <a:srgbClr val="EBEDF1"/>
                    </a:solidFill>
                  </a:tcPr>
                </a:tc>
                <a:tc>
                  <a:txBody>
                    <a:bodyPr/>
                    <a:lstStyle/>
                    <a:p>
                      <a:pPr algn="ctr">
                        <a:defRPr sz="1100" b="1">
                          <a:solidFill>
                            <a:srgbClr val="106E41"/>
                          </a:solidFill>
                          <a:latin typeface="Arial"/>
                        </a:defRPr>
                      </a:pPr>
                      <a:r>
                        <a:t>10.0</a:t>
                      </a:r>
                    </a:p>
                  </a:txBody>
                  <a:tcPr>
                    <a:solidFill>
                      <a:srgbClr val="EBEDF1"/>
                    </a:solidFill>
                  </a:tcPr>
                </a:tc>
                <a:tc>
                  <a:txBody>
                    <a:bodyPr/>
                    <a:lstStyle/>
                    <a:p>
                      <a:pPr algn="l">
                        <a:defRPr sz="1100" b="1">
                          <a:solidFill>
                            <a:srgbClr val="106E41"/>
                          </a:solidFill>
                          <a:latin typeface="Arial"/>
                        </a:defRPr>
                      </a:pPr>
                      <a:r>
                        <a:t>Optimal: Certified recyclers operate safely</a:t>
                      </a:r>
                    </a:p>
                  </a:txBody>
                  <a:tcPr>
                    <a:solidFill>
                      <a:srgbClr val="EBEDF1"/>
                    </a:solidFill>
                  </a:tcPr>
                </a:tc>
              </a:tr>
              <a:tr h="514350">
                <a:tc>
                  <a:txBody>
                    <a:bodyPr/>
                    <a:lstStyle/>
                    <a:p>
                      <a:pPr algn="l">
                        <a:defRPr sz="1100">
                          <a:solidFill>
                            <a:srgbClr val="1E2431"/>
                          </a:solidFill>
                          <a:latin typeface="Arial"/>
                        </a:defRPr>
                      </a:pPr>
                      <a:r>
                        <a:t>Awareness &amp; Outreach</a:t>
                      </a:r>
                    </a:p>
                  </a:txBody>
                  <a:tcPr>
                    <a:solidFill>
                      <a:srgbClr val="FFFFFF"/>
                    </a:solidFill>
                  </a:tcPr>
                </a:tc>
                <a:tc>
                  <a:txBody>
                    <a:bodyPr/>
                    <a:lstStyle/>
                    <a:p>
                      <a:pPr algn="ctr">
                        <a:defRPr sz="1100">
                          <a:solidFill>
                            <a:srgbClr val="1E2431"/>
                          </a:solidFill>
                          <a:latin typeface="Arial"/>
                        </a:defRPr>
                      </a:pPr>
                      <a:r>
                        <a:t>10.0</a:t>
                      </a:r>
                    </a:p>
                  </a:txBody>
                  <a:tcPr>
                    <a:solidFill>
                      <a:srgbClr val="FFFFFF"/>
                    </a:solidFill>
                  </a:tcPr>
                </a:tc>
                <a:tc>
                  <a:txBody>
                    <a:bodyPr/>
                    <a:lstStyle/>
                    <a:p>
                      <a:pPr algn="ctr">
                        <a:defRPr sz="1100" b="1">
                          <a:solidFill>
                            <a:srgbClr val="106E41"/>
                          </a:solidFill>
                          <a:latin typeface="Arial"/>
                        </a:defRPr>
                      </a:pPr>
                      <a:r>
                        <a:t>10.0</a:t>
                      </a:r>
                    </a:p>
                  </a:txBody>
                  <a:tcPr>
                    <a:solidFill>
                      <a:srgbClr val="FFFFFF"/>
                    </a:solidFill>
                  </a:tcPr>
                </a:tc>
                <a:tc>
                  <a:txBody>
                    <a:bodyPr/>
                    <a:lstStyle/>
                    <a:p>
                      <a:pPr algn="l">
                        <a:defRPr sz="1100" b="1">
                          <a:solidFill>
                            <a:srgbClr val="106E41"/>
                          </a:solidFill>
                          <a:latin typeface="Arial"/>
                        </a:defRPr>
                      </a:pPr>
                      <a:r>
                        <a:t>Optimal: Active public outreach campaigns</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TextBox 1"/>
          <p:cNvSpPr txBox="1"/>
          <p:nvPr/>
        </p:nvSpPr>
        <p:spPr>
          <a:xfrm>
            <a:off x="548640" y="365760"/>
            <a:ext cx="11094415" cy="731520"/>
          </a:xfrm>
          <a:prstGeom prst="rect">
            <a:avLst/>
          </a:prstGeom>
          <a:noFill/>
        </p:spPr>
        <p:txBody>
          <a:bodyPr wrap="square" tIns="0" bIns="0" lIns="0" rIns="0">
            <a:spAutoFit/>
          </a:bodyPr>
          <a:lstStyle/>
          <a:p>
            <a:pPr>
              <a:defRPr sz="2400" b="1">
                <a:solidFill>
                  <a:srgbClr val="1E2431"/>
                </a:solidFill>
                <a:latin typeface="Georgia"/>
              </a:defRPr>
            </a:pPr>
            <a:r>
              <a:t>Kangra, Shimla, and Solan Generate 46% of E-Waste but Collect Under 16%</a:t>
            </a:r>
          </a:p>
        </p:txBody>
      </p:sp>
      <p:sp>
        <p:nvSpPr>
          <p:cNvPr id="3" name="Rectangle 2"/>
          <p:cNvSpPr/>
          <p:nvPr/>
        </p:nvSpPr>
        <p:spPr>
          <a:xfrm>
            <a:off x="548640" y="1097280"/>
            <a:ext cx="11094415" cy="2540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11094415" cy="365760"/>
          </a:xfrm>
          <a:prstGeom prst="rect">
            <a:avLst/>
          </a:prstGeom>
          <a:noFill/>
        </p:spPr>
        <p:txBody>
          <a:bodyPr wrap="square" tIns="0" bIns="0" lIns="0" rIns="0">
            <a:spAutoFit/>
          </a:bodyPr>
          <a:lstStyle/>
          <a:p>
            <a:pPr>
              <a:defRPr sz="1000">
                <a:solidFill>
                  <a:srgbClr val="646E7D"/>
                </a:solidFill>
                <a:latin typeface="Arial"/>
              </a:defRPr>
            </a:pPr>
            <a:r>
              <a:t>E-Waste in Himachal Pradesh: Classroom Presentation | State Tracker &amp; Report Analysis</a:t>
            </a:r>
          </a:p>
          <a:p>
            <a:pPr algn="r">
              <a:defRPr sz="900">
                <a:solidFill>
                  <a:srgbClr val="646E7D"/>
                </a:solidFill>
                <a:latin typeface="Arial"/>
              </a:defRPr>
            </a:pPr>
            <a:r>
              <a:t>Slide 5</a:t>
            </a:r>
          </a:p>
        </p:txBody>
      </p:sp>
      <p:graphicFrame>
        <p:nvGraphicFramePr>
          <p:cNvPr id="5" name="Table 4"/>
          <p:cNvGraphicFramePr>
            <a:graphicFrameLocks noGrp="1"/>
          </p:cNvGraphicFramePr>
          <p:nvPr/>
        </p:nvGraphicFramePr>
        <p:xfrm>
          <a:off x="548640" y="1645920"/>
          <a:ext cx="5486400" cy="4114800"/>
        </p:xfrm>
        <a:graphic>
          <a:graphicData uri="http://schemas.openxmlformats.org/drawingml/2006/table">
            <a:tbl>
              <a:tblPr firstRow="1" bandRow="1">
                <a:tableStyleId>{5C22544A-7EE6-4342-B048-85BDC9FD1C3A}</a:tableStyleId>
              </a:tblPr>
              <a:tblGrid>
                <a:gridCol w="1188720"/>
                <a:gridCol w="1005840"/>
                <a:gridCol w="1005840"/>
                <a:gridCol w="1005840"/>
                <a:gridCol w="1280160"/>
              </a:tblGrid>
              <a:tr h="685800">
                <a:tc>
                  <a:txBody>
                    <a:bodyPr/>
                    <a:lstStyle/>
                    <a:p>
                      <a:pPr algn="ctr">
                        <a:defRPr sz="1100" b="1">
                          <a:solidFill>
                            <a:srgbClr val="FFFFFF"/>
                          </a:solidFill>
                          <a:latin typeface="Arial"/>
                        </a:defRPr>
                      </a:pPr>
                      <a:r>
                        <a:t>District</a:t>
                      </a:r>
                    </a:p>
                  </a:txBody>
                  <a:tcPr>
                    <a:solidFill>
                      <a:srgbClr val="1A2C24"/>
                    </a:solidFill>
                  </a:tcPr>
                </a:tc>
                <a:tc>
                  <a:txBody>
                    <a:bodyPr/>
                    <a:lstStyle/>
                    <a:p>
                      <a:pPr algn="ctr">
                        <a:defRPr sz="1100" b="1">
                          <a:solidFill>
                            <a:srgbClr val="FFFFFF"/>
                          </a:solidFill>
                          <a:latin typeface="Arial"/>
                        </a:defRPr>
                      </a:pPr>
                      <a:r>
                        <a:t>Generated</a:t>
                      </a:r>
                    </a:p>
                  </a:txBody>
                  <a:tcPr>
                    <a:solidFill>
                      <a:srgbClr val="1A2C24"/>
                    </a:solidFill>
                  </a:tcPr>
                </a:tc>
                <a:tc>
                  <a:txBody>
                    <a:bodyPr/>
                    <a:lstStyle/>
                    <a:p>
                      <a:pPr algn="ctr">
                        <a:defRPr sz="1100" b="1">
                          <a:solidFill>
                            <a:srgbClr val="FFFFFF"/>
                          </a:solidFill>
                          <a:latin typeface="Arial"/>
                        </a:defRPr>
                      </a:pPr>
                      <a:r>
                        <a:t>Collected</a:t>
                      </a:r>
                    </a:p>
                  </a:txBody>
                  <a:tcPr>
                    <a:solidFill>
                      <a:srgbClr val="1A2C24"/>
                    </a:solidFill>
                  </a:tcPr>
                </a:tc>
                <a:tc>
                  <a:txBody>
                    <a:bodyPr/>
                    <a:lstStyle/>
                    <a:p>
                      <a:pPr algn="ctr">
                        <a:defRPr sz="1100" b="1">
                          <a:solidFill>
                            <a:srgbClr val="FFFFFF"/>
                          </a:solidFill>
                          <a:latin typeface="Arial"/>
                        </a:defRPr>
                      </a:pPr>
                      <a:r>
                        <a:t>Rate</a:t>
                      </a:r>
                    </a:p>
                  </a:txBody>
                  <a:tcPr>
                    <a:solidFill>
                      <a:srgbClr val="1A2C24"/>
                    </a:solidFill>
                  </a:tcPr>
                </a:tc>
                <a:tc>
                  <a:txBody>
                    <a:bodyPr/>
                    <a:lstStyle/>
                    <a:p>
                      <a:pPr algn="ctr">
                        <a:defRPr sz="1100" b="1">
                          <a:solidFill>
                            <a:srgbClr val="FFFFFF"/>
                          </a:solidFill>
                          <a:latin typeface="Arial"/>
                        </a:defRPr>
                      </a:pPr>
                      <a:r>
                        <a:t>Centers</a:t>
                      </a:r>
                    </a:p>
                  </a:txBody>
                  <a:tcPr>
                    <a:solidFill>
                      <a:srgbClr val="1A2C24"/>
                    </a:solidFill>
                  </a:tcPr>
                </a:tc>
              </a:tr>
              <a:tr h="685800">
                <a:tc>
                  <a:txBody>
                    <a:bodyPr/>
                    <a:lstStyle/>
                    <a:p>
                      <a:pPr algn="l">
                        <a:defRPr sz="1000" b="1">
                          <a:solidFill>
                            <a:srgbClr val="1E2431"/>
                          </a:solidFill>
                          <a:latin typeface="Arial"/>
                        </a:defRPr>
                      </a:pPr>
                      <a:r>
                        <a:t>Kangra</a:t>
                      </a:r>
                    </a:p>
                  </a:txBody>
                  <a:tcPr>
                    <a:solidFill>
                      <a:srgbClr val="FFFFFF"/>
                    </a:solidFill>
                  </a:tcPr>
                </a:tc>
                <a:tc>
                  <a:txBody>
                    <a:bodyPr/>
                    <a:lstStyle/>
                    <a:p>
                      <a:pPr algn="ctr">
                        <a:defRPr sz="1000">
                          <a:solidFill>
                            <a:srgbClr val="1E2431"/>
                          </a:solidFill>
                          <a:latin typeface="Arial"/>
                        </a:defRPr>
                      </a:pPr>
                      <a:r>
                        <a:t>468,124</a:t>
                      </a:r>
                    </a:p>
                  </a:txBody>
                  <a:tcPr>
                    <a:solidFill>
                      <a:srgbClr val="FFFFFF"/>
                    </a:solidFill>
                  </a:tcPr>
                </a:tc>
                <a:tc>
                  <a:txBody>
                    <a:bodyPr/>
                    <a:lstStyle/>
                    <a:p>
                      <a:pPr algn="ctr">
                        <a:defRPr sz="1000">
                          <a:solidFill>
                            <a:srgbClr val="1E2431"/>
                          </a:solidFill>
                          <a:latin typeface="Arial"/>
                        </a:defRPr>
                      </a:pPr>
                      <a:r>
                        <a:t>75,504</a:t>
                      </a:r>
                    </a:p>
                  </a:txBody>
                  <a:tcPr>
                    <a:solidFill>
                      <a:srgbClr val="FFFFFF"/>
                    </a:solidFill>
                  </a:tcPr>
                </a:tc>
                <a:tc>
                  <a:txBody>
                    <a:bodyPr/>
                    <a:lstStyle/>
                    <a:p>
                      <a:pPr algn="ctr">
                        <a:defRPr sz="1000">
                          <a:solidFill>
                            <a:srgbClr val="1E2431"/>
                          </a:solidFill>
                          <a:latin typeface="Arial"/>
                        </a:defRPr>
                      </a:pPr>
                      <a:r>
                        <a:t>16.13%</a:t>
                      </a:r>
                    </a:p>
                  </a:txBody>
                  <a:tcPr>
                    <a:solidFill>
                      <a:srgbClr val="FFFFFF"/>
                    </a:solidFill>
                  </a:tcPr>
                </a:tc>
                <a:tc>
                  <a:txBody>
                    <a:bodyPr/>
                    <a:lstStyle/>
                    <a:p>
                      <a:pPr algn="ctr">
                        <a:defRPr sz="1000">
                          <a:solidFill>
                            <a:srgbClr val="1E2431"/>
                          </a:solidFill>
                          <a:latin typeface="Arial"/>
                        </a:defRPr>
                      </a:pPr>
                      <a:r>
                        <a:t>3.0</a:t>
                      </a:r>
                    </a:p>
                  </a:txBody>
                  <a:tcPr>
                    <a:solidFill>
                      <a:srgbClr val="FFFFFF"/>
                    </a:solidFill>
                  </a:tcPr>
                </a:tc>
              </a:tr>
              <a:tr h="685800">
                <a:tc>
                  <a:txBody>
                    <a:bodyPr/>
                    <a:lstStyle/>
                    <a:p>
                      <a:pPr algn="l">
                        <a:defRPr sz="1000" b="1">
                          <a:solidFill>
                            <a:srgbClr val="1E2431"/>
                          </a:solidFill>
                          <a:latin typeface="Arial"/>
                        </a:defRPr>
                      </a:pPr>
                      <a:r>
                        <a:t>Shimla</a:t>
                      </a:r>
                    </a:p>
                  </a:txBody>
                  <a:tcPr>
                    <a:solidFill>
                      <a:srgbClr val="EBEDF1"/>
                    </a:solidFill>
                  </a:tcPr>
                </a:tc>
                <a:tc>
                  <a:txBody>
                    <a:bodyPr/>
                    <a:lstStyle/>
                    <a:p>
                      <a:pPr algn="ctr">
                        <a:defRPr sz="1000">
                          <a:solidFill>
                            <a:srgbClr val="1E2431"/>
                          </a:solidFill>
                          <a:latin typeface="Arial"/>
                        </a:defRPr>
                      </a:pPr>
                      <a:r>
                        <a:t>378,514</a:t>
                      </a:r>
                    </a:p>
                  </a:txBody>
                  <a:tcPr>
                    <a:solidFill>
                      <a:srgbClr val="EBEDF1"/>
                    </a:solidFill>
                  </a:tcPr>
                </a:tc>
                <a:tc>
                  <a:txBody>
                    <a:bodyPr/>
                    <a:lstStyle/>
                    <a:p>
                      <a:pPr algn="ctr">
                        <a:defRPr sz="1000">
                          <a:solidFill>
                            <a:srgbClr val="1E2431"/>
                          </a:solidFill>
                          <a:latin typeface="Arial"/>
                        </a:defRPr>
                      </a:pPr>
                      <a:r>
                        <a:t>40,700</a:t>
                      </a:r>
                    </a:p>
                  </a:txBody>
                  <a:tcPr>
                    <a:solidFill>
                      <a:srgbClr val="EBEDF1"/>
                    </a:solidFill>
                  </a:tcPr>
                </a:tc>
                <a:tc>
                  <a:txBody>
                    <a:bodyPr/>
                    <a:lstStyle/>
                    <a:p>
                      <a:pPr algn="ctr">
                        <a:defRPr sz="1000">
                          <a:solidFill>
                            <a:srgbClr val="1E2431"/>
                          </a:solidFill>
                          <a:latin typeface="Arial"/>
                        </a:defRPr>
                      </a:pPr>
                      <a:r>
                        <a:t>10.75%</a:t>
                      </a:r>
                    </a:p>
                  </a:txBody>
                  <a:tcPr>
                    <a:solidFill>
                      <a:srgbClr val="EBEDF1"/>
                    </a:solidFill>
                  </a:tcPr>
                </a:tc>
                <a:tc>
                  <a:txBody>
                    <a:bodyPr/>
                    <a:lstStyle/>
                    <a:p>
                      <a:pPr algn="ctr">
                        <a:defRPr sz="1000">
                          <a:solidFill>
                            <a:srgbClr val="1E2431"/>
                          </a:solidFill>
                          <a:latin typeface="Arial"/>
                        </a:defRPr>
                      </a:pPr>
                      <a:r>
                        <a:t>3.0</a:t>
                      </a:r>
                    </a:p>
                  </a:txBody>
                  <a:tcPr>
                    <a:solidFill>
                      <a:srgbClr val="EBEDF1"/>
                    </a:solidFill>
                  </a:tcPr>
                </a:tc>
              </a:tr>
              <a:tr h="685800">
                <a:tc>
                  <a:txBody>
                    <a:bodyPr/>
                    <a:lstStyle/>
                    <a:p>
                      <a:pPr algn="l">
                        <a:defRPr sz="1000" b="1">
                          <a:solidFill>
                            <a:srgbClr val="1E2431"/>
                          </a:solidFill>
                          <a:latin typeface="Arial"/>
                        </a:defRPr>
                      </a:pPr>
                      <a:r>
                        <a:t>Mandi</a:t>
                      </a:r>
                    </a:p>
                  </a:txBody>
                  <a:tcPr>
                    <a:solidFill>
                      <a:srgbClr val="FFFFFF"/>
                    </a:solidFill>
                  </a:tcPr>
                </a:tc>
                <a:tc>
                  <a:txBody>
                    <a:bodyPr/>
                    <a:lstStyle/>
                    <a:p>
                      <a:pPr algn="ctr">
                        <a:defRPr sz="1000">
                          <a:solidFill>
                            <a:srgbClr val="1E2431"/>
                          </a:solidFill>
                          <a:latin typeface="Arial"/>
                        </a:defRPr>
                      </a:pPr>
                      <a:r>
                        <a:t>309,931</a:t>
                      </a:r>
                    </a:p>
                  </a:txBody>
                  <a:tcPr>
                    <a:solidFill>
                      <a:srgbClr val="FFFFFF"/>
                    </a:solidFill>
                  </a:tcPr>
                </a:tc>
                <a:tc>
                  <a:txBody>
                    <a:bodyPr/>
                    <a:lstStyle/>
                    <a:p>
                      <a:pPr algn="ctr">
                        <a:defRPr sz="1000">
                          <a:solidFill>
                            <a:srgbClr val="1E2431"/>
                          </a:solidFill>
                          <a:latin typeface="Arial"/>
                        </a:defRPr>
                      </a:pPr>
                      <a:r>
                        <a:t>9,998</a:t>
                      </a:r>
                    </a:p>
                  </a:txBody>
                  <a:tcPr>
                    <a:solidFill>
                      <a:srgbClr val="FFFFFF"/>
                    </a:solidFill>
                  </a:tcPr>
                </a:tc>
                <a:tc>
                  <a:txBody>
                    <a:bodyPr/>
                    <a:lstStyle/>
                    <a:p>
                      <a:pPr algn="ctr">
                        <a:defRPr sz="1000">
                          <a:solidFill>
                            <a:srgbClr val="1E2431"/>
                          </a:solidFill>
                          <a:latin typeface="Arial"/>
                        </a:defRPr>
                      </a:pPr>
                      <a:r>
                        <a:t>3.23%</a:t>
                      </a:r>
                    </a:p>
                  </a:txBody>
                  <a:tcPr>
                    <a:solidFill>
                      <a:srgbClr val="FFFFFF"/>
                    </a:solidFill>
                  </a:tcPr>
                </a:tc>
                <a:tc>
                  <a:txBody>
                    <a:bodyPr/>
                    <a:lstStyle/>
                    <a:p>
                      <a:pPr algn="ctr">
                        <a:defRPr sz="1000">
                          <a:solidFill>
                            <a:srgbClr val="1E2431"/>
                          </a:solidFill>
                          <a:latin typeface="Arial"/>
                        </a:defRPr>
                      </a:pPr>
                      <a:r>
                        <a:t>1.0</a:t>
                      </a:r>
                    </a:p>
                  </a:txBody>
                  <a:tcPr>
                    <a:solidFill>
                      <a:srgbClr val="FFFFFF"/>
                    </a:solidFill>
                  </a:tcPr>
                </a:tc>
              </a:tr>
              <a:tr h="685800">
                <a:tc>
                  <a:txBody>
                    <a:bodyPr/>
                    <a:lstStyle/>
                    <a:p>
                      <a:pPr algn="l">
                        <a:defRPr sz="1000" b="1">
                          <a:solidFill>
                            <a:srgbClr val="1E2431"/>
                          </a:solidFill>
                          <a:latin typeface="Arial"/>
                        </a:defRPr>
                      </a:pPr>
                      <a:r>
                        <a:t>Solan</a:t>
                      </a:r>
                    </a:p>
                  </a:txBody>
                  <a:tcPr>
                    <a:solidFill>
                      <a:srgbClr val="EBEDF1"/>
                    </a:solidFill>
                  </a:tcPr>
                </a:tc>
                <a:tc>
                  <a:txBody>
                    <a:bodyPr/>
                    <a:lstStyle/>
                    <a:p>
                      <a:pPr algn="ctr">
                        <a:defRPr sz="1000">
                          <a:solidFill>
                            <a:srgbClr val="1E2431"/>
                          </a:solidFill>
                          <a:latin typeface="Arial"/>
                        </a:defRPr>
                      </a:pPr>
                      <a:r>
                        <a:t>269,849</a:t>
                      </a:r>
                    </a:p>
                  </a:txBody>
                  <a:tcPr>
                    <a:solidFill>
                      <a:srgbClr val="EBEDF1"/>
                    </a:solidFill>
                  </a:tcPr>
                </a:tc>
                <a:tc>
                  <a:txBody>
                    <a:bodyPr/>
                    <a:lstStyle/>
                    <a:p>
                      <a:pPr algn="ctr">
                        <a:defRPr sz="1000">
                          <a:solidFill>
                            <a:srgbClr val="1E2431"/>
                          </a:solidFill>
                          <a:latin typeface="Arial"/>
                        </a:defRPr>
                      </a:pPr>
                      <a:r>
                        <a:t>29,016</a:t>
                      </a:r>
                    </a:p>
                  </a:txBody>
                  <a:tcPr>
                    <a:solidFill>
                      <a:srgbClr val="EBEDF1"/>
                    </a:solidFill>
                  </a:tcPr>
                </a:tc>
                <a:tc>
                  <a:txBody>
                    <a:bodyPr/>
                    <a:lstStyle/>
                    <a:p>
                      <a:pPr algn="ctr">
                        <a:defRPr sz="1000">
                          <a:solidFill>
                            <a:srgbClr val="1E2431"/>
                          </a:solidFill>
                          <a:latin typeface="Arial"/>
                        </a:defRPr>
                      </a:pPr>
                      <a:r>
                        <a:t>10.75%</a:t>
                      </a:r>
                    </a:p>
                  </a:txBody>
                  <a:tcPr>
                    <a:solidFill>
                      <a:srgbClr val="EBEDF1"/>
                    </a:solidFill>
                  </a:tcPr>
                </a:tc>
                <a:tc>
                  <a:txBody>
                    <a:bodyPr/>
                    <a:lstStyle/>
                    <a:p>
                      <a:pPr algn="ctr">
                        <a:defRPr sz="1000">
                          <a:solidFill>
                            <a:srgbClr val="1E2431"/>
                          </a:solidFill>
                          <a:latin typeface="Arial"/>
                        </a:defRPr>
                      </a:pPr>
                      <a:r>
                        <a:t>3.0</a:t>
                      </a:r>
                    </a:p>
                  </a:txBody>
                  <a:tcPr>
                    <a:solidFill>
                      <a:srgbClr val="EBEDF1"/>
                    </a:solidFill>
                  </a:tcPr>
                </a:tc>
              </a:tr>
              <a:tr h="685800">
                <a:tc>
                  <a:txBody>
                    <a:bodyPr/>
                    <a:lstStyle/>
                    <a:p>
                      <a:pPr algn="l">
                        <a:defRPr sz="1000" b="1">
                          <a:solidFill>
                            <a:srgbClr val="1E2431"/>
                          </a:solidFill>
                          <a:latin typeface="Arial"/>
                        </a:defRPr>
                      </a:pPr>
                      <a:r>
                        <a:t>Sirmaur</a:t>
                      </a:r>
                    </a:p>
                  </a:txBody>
                  <a:tcPr>
                    <a:solidFill>
                      <a:srgbClr val="FFFFFF"/>
                    </a:solidFill>
                  </a:tcPr>
                </a:tc>
                <a:tc>
                  <a:txBody>
                    <a:bodyPr/>
                    <a:lstStyle/>
                    <a:p>
                      <a:pPr algn="ctr">
                        <a:defRPr sz="1000">
                          <a:solidFill>
                            <a:srgbClr val="1E2431"/>
                          </a:solidFill>
                          <a:latin typeface="Arial"/>
                        </a:defRPr>
                      </a:pPr>
                      <a:r>
                        <a:t>246,383</a:t>
                      </a:r>
                    </a:p>
                  </a:txBody>
                  <a:tcPr>
                    <a:solidFill>
                      <a:srgbClr val="FFFFFF"/>
                    </a:solidFill>
                  </a:tcPr>
                </a:tc>
                <a:tc>
                  <a:txBody>
                    <a:bodyPr/>
                    <a:lstStyle/>
                    <a:p>
                      <a:pPr algn="ctr">
                        <a:defRPr sz="1000">
                          <a:solidFill>
                            <a:srgbClr val="1E2431"/>
                          </a:solidFill>
                          <a:latin typeface="Arial"/>
                        </a:defRPr>
                      </a:pPr>
                      <a:r>
                        <a:t>5,299</a:t>
                      </a:r>
                    </a:p>
                  </a:txBody>
                  <a:tcPr>
                    <a:solidFill>
                      <a:srgbClr val="FFFFFF"/>
                    </a:solidFill>
                  </a:tcPr>
                </a:tc>
                <a:tc>
                  <a:txBody>
                    <a:bodyPr/>
                    <a:lstStyle/>
                    <a:p>
                      <a:pPr algn="ctr">
                        <a:defRPr sz="1000">
                          <a:solidFill>
                            <a:srgbClr val="1E2431"/>
                          </a:solidFill>
                          <a:latin typeface="Arial"/>
                        </a:defRPr>
                      </a:pPr>
                      <a:r>
                        <a:t>2.15%</a:t>
                      </a:r>
                    </a:p>
                  </a:txBody>
                  <a:tcPr>
                    <a:solidFill>
                      <a:srgbClr val="FFFFFF"/>
                    </a:solidFill>
                  </a:tcPr>
                </a:tc>
                <a:tc>
                  <a:txBody>
                    <a:bodyPr/>
                    <a:lstStyle/>
                    <a:p>
                      <a:pPr algn="ctr">
                        <a:defRPr sz="1000">
                          <a:solidFill>
                            <a:srgbClr val="1E2431"/>
                          </a:solidFill>
                          <a:latin typeface="Arial"/>
                        </a:defRPr>
                      </a:pPr>
                      <a:r>
                        <a:t>1.0</a:t>
                      </a:r>
                    </a:p>
                  </a:txBody>
                  <a:tcPr>
                    <a:solidFill>
                      <a:srgbClr val="FFFFFF"/>
                    </a:solidFill>
                  </a:tcPr>
                </a:tc>
              </a:tr>
            </a:tbl>
          </a:graphicData>
        </a:graphic>
      </p:graphicFrame>
      <p:pic>
        <p:nvPicPr>
          <p:cNvPr id="6" name="Picture 5" descr="district_chart.png"/>
          <p:cNvPicPr>
            <a:picLocks noChangeAspect="1"/>
          </p:cNvPicPr>
          <p:nvPr/>
        </p:nvPicPr>
        <p:blipFill>
          <a:blip r:embed="rId2"/>
          <a:stretch>
            <a:fillRect/>
          </a:stretch>
        </p:blipFill>
        <p:spPr>
          <a:xfrm>
            <a:off x="6217920" y="1645920"/>
            <a:ext cx="5394960" cy="4114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TextBox 1"/>
          <p:cNvSpPr txBox="1"/>
          <p:nvPr/>
        </p:nvSpPr>
        <p:spPr>
          <a:xfrm>
            <a:off x="548640" y="365760"/>
            <a:ext cx="11094415" cy="731520"/>
          </a:xfrm>
          <a:prstGeom prst="rect">
            <a:avLst/>
          </a:prstGeom>
          <a:noFill/>
        </p:spPr>
        <p:txBody>
          <a:bodyPr wrap="square" tIns="0" bIns="0" lIns="0" rIns="0">
            <a:spAutoFit/>
          </a:bodyPr>
          <a:lstStyle/>
          <a:p>
            <a:pPr>
              <a:defRPr sz="2400" b="1">
                <a:solidFill>
                  <a:srgbClr val="1E2431"/>
                </a:solidFill>
                <a:latin typeface="Georgia"/>
              </a:defRPr>
            </a:pPr>
            <a:r>
              <a:t>Nine of Fifteen Collection Centers Cluster in Three Districts, Leaving Others Dry</a:t>
            </a:r>
          </a:p>
        </p:txBody>
      </p:sp>
      <p:sp>
        <p:nvSpPr>
          <p:cNvPr id="3" name="Rectangle 2"/>
          <p:cNvSpPr/>
          <p:nvPr/>
        </p:nvSpPr>
        <p:spPr>
          <a:xfrm>
            <a:off x="548640" y="1097280"/>
            <a:ext cx="11094415" cy="2540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11094415" cy="365760"/>
          </a:xfrm>
          <a:prstGeom prst="rect">
            <a:avLst/>
          </a:prstGeom>
          <a:noFill/>
        </p:spPr>
        <p:txBody>
          <a:bodyPr wrap="square" tIns="0" bIns="0" lIns="0" rIns="0">
            <a:spAutoFit/>
          </a:bodyPr>
          <a:lstStyle/>
          <a:p>
            <a:pPr>
              <a:defRPr sz="1000">
                <a:solidFill>
                  <a:srgbClr val="646E7D"/>
                </a:solidFill>
                <a:latin typeface="Arial"/>
              </a:defRPr>
            </a:pPr>
            <a:r>
              <a:t>E-Waste in Himachal Pradesh: Classroom Presentation | State Tracker &amp; Report Analysis</a:t>
            </a:r>
          </a:p>
          <a:p>
            <a:pPr algn="r">
              <a:defRPr sz="900">
                <a:solidFill>
                  <a:srgbClr val="646E7D"/>
                </a:solidFill>
                <a:latin typeface="Arial"/>
              </a:defRPr>
            </a:pPr>
            <a:r>
              <a:t>Slide 6</a:t>
            </a:r>
          </a:p>
        </p:txBody>
      </p:sp>
      <p:sp>
        <p:nvSpPr>
          <p:cNvPr id="5" name="Rounded Rectangle 4"/>
          <p:cNvSpPr/>
          <p:nvPr/>
        </p:nvSpPr>
        <p:spPr>
          <a:xfrm>
            <a:off x="548640" y="1645920"/>
            <a:ext cx="3383280" cy="4114800"/>
          </a:xfrm>
          <a:prstGeom prst="roundRect">
            <a:avLst/>
          </a:prstGeom>
          <a:solidFill>
            <a:srgbClr val="FFFFFF"/>
          </a:solidFill>
          <a:ln w="31750">
            <a:solidFill>
              <a:srgbClr val="106E41"/>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300" b="1">
                <a:solidFill>
                  <a:srgbClr val="106E41"/>
                </a:solidFill>
                <a:latin typeface="Arial"/>
              </a:defRPr>
            </a:pPr>
            <a:r>
              <a:t>HIGH ACCESS AREAS</a:t>
            </a:r>
          </a:p>
          <a:p>
            <a:pPr algn="ctr">
              <a:spcAft>
                <a:spcPts val="500"/>
              </a:spcAft>
              <a:defRPr sz="1100" i="1">
                <a:solidFill>
                  <a:srgbClr val="646E7D"/>
                </a:solidFill>
                <a:latin typeface="Arial"/>
              </a:defRPr>
            </a:pPr>
            <a:r>
              <a:t>3.0 centers per district</a:t>
            </a:r>
          </a:p>
          <a:p>
            <a:pPr algn="ctr">
              <a:spcAft>
                <a:spcPts val="1500"/>
              </a:spcAft>
              <a:defRPr sz="1100" b="1">
                <a:solidFill>
                  <a:srgbClr val="1E2431"/>
                </a:solidFill>
                <a:latin typeface="Arial"/>
              </a:defRPr>
            </a:pPr>
            <a:r>
              <a:t>Districts: Solan, Kangra, Shimla</a:t>
            </a:r>
          </a:p>
          <a:p>
            <a:pPr>
              <a:lnSpc>
                <a:spcPct val="130000"/>
              </a:lnSpc>
              <a:defRPr sz="1000">
                <a:solidFill>
                  <a:srgbClr val="1E2431"/>
                </a:solidFill>
                <a:latin typeface="Arial"/>
              </a:defRPr>
            </a:pPr>
            <a:r>
              <a:t>• 9 Total Centers (60% of state total)</a:t>
            </a:r>
            <a:br/>
            <a:r>
              <a:t>• Clustered around industrial &amp; administrative hubs.</a:t>
            </a:r>
            <a:br/>
            <a:r>
              <a:t>• Collection rates are higher (10.7% - 16.1%) but still far below state environmental targets.</a:t>
            </a:r>
          </a:p>
        </p:txBody>
      </p:sp>
      <p:sp>
        <p:nvSpPr>
          <p:cNvPr id="6" name="Rounded Rectangle 5"/>
          <p:cNvSpPr/>
          <p:nvPr/>
        </p:nvSpPr>
        <p:spPr>
          <a:xfrm>
            <a:off x="4389120" y="1645920"/>
            <a:ext cx="3383280" cy="4114800"/>
          </a:xfrm>
          <a:prstGeom prst="roundRect">
            <a:avLst/>
          </a:prstGeom>
          <a:solidFill>
            <a:srgbClr val="FFFFFF"/>
          </a:solidFill>
          <a:ln w="3175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300" b="1">
                <a:solidFill>
                  <a:srgbClr val="1976D2"/>
                </a:solidFill>
                <a:latin typeface="Arial"/>
              </a:defRPr>
            </a:pPr>
            <a:r>
              <a:t>LOW ACCESS AREAS</a:t>
            </a:r>
          </a:p>
          <a:p>
            <a:pPr algn="ctr">
              <a:spcAft>
                <a:spcPts val="500"/>
              </a:spcAft>
              <a:defRPr sz="1100" i="1">
                <a:solidFill>
                  <a:srgbClr val="646E7D"/>
                </a:solidFill>
                <a:latin typeface="Arial"/>
              </a:defRPr>
            </a:pPr>
            <a:r>
              <a:t>1.0 center per district</a:t>
            </a:r>
          </a:p>
          <a:p>
            <a:pPr algn="ctr">
              <a:spcAft>
                <a:spcPts val="1500"/>
              </a:spcAft>
              <a:defRPr sz="1100" b="1">
                <a:solidFill>
                  <a:srgbClr val="1E2431"/>
                </a:solidFill>
                <a:latin typeface="Arial"/>
              </a:defRPr>
            </a:pPr>
            <a:r>
              <a:t>Districts: Mandi, Sirmaur, Una, Chamba, Hamirpur, Kullu</a:t>
            </a:r>
          </a:p>
          <a:p>
            <a:pPr>
              <a:lnSpc>
                <a:spcPct val="130000"/>
              </a:lnSpc>
              <a:defRPr sz="1000">
                <a:solidFill>
                  <a:srgbClr val="1E2431"/>
                </a:solidFill>
                <a:latin typeface="Arial"/>
              </a:defRPr>
            </a:pPr>
            <a:r>
              <a:t>• 6 Total Centers (1 center each)</a:t>
            </a:r>
            <a:br/>
            <a:r>
              <a:t>• Serves vast populations with single centers.</a:t>
            </a:r>
            <a:br/>
            <a:r>
              <a:t>• Critical Collection Failure: collection rates drop to 2.1% - 3.2% as physical distance prevents public participation.</a:t>
            </a:r>
          </a:p>
        </p:txBody>
      </p:sp>
      <p:sp>
        <p:nvSpPr>
          <p:cNvPr id="7" name="Rounded Rectangle 6"/>
          <p:cNvSpPr/>
          <p:nvPr/>
        </p:nvSpPr>
        <p:spPr>
          <a:xfrm>
            <a:off x="8229600" y="1645920"/>
            <a:ext cx="3383280" cy="4114800"/>
          </a:xfrm>
          <a:prstGeom prst="roundRect">
            <a:avLst/>
          </a:prstGeom>
          <a:solidFill>
            <a:srgbClr val="FFFFFF"/>
          </a:solidFill>
          <a:ln w="31750">
            <a:solidFill>
              <a:srgbClr val="D32F2F"/>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300" b="1">
                <a:solidFill>
                  <a:srgbClr val="D32F2F"/>
                </a:solidFill>
                <a:latin typeface="Arial"/>
              </a:defRPr>
            </a:pPr>
            <a:r>
              <a:t>ZERO ACCESS AREAS</a:t>
            </a:r>
          </a:p>
          <a:p>
            <a:pPr algn="ctr">
              <a:spcAft>
                <a:spcPts val="500"/>
              </a:spcAft>
              <a:defRPr sz="1100" i="1">
                <a:solidFill>
                  <a:srgbClr val="646E7D"/>
                </a:solidFill>
                <a:latin typeface="Arial"/>
              </a:defRPr>
            </a:pPr>
            <a:r>
              <a:t>0.0 centers per district</a:t>
            </a:r>
          </a:p>
          <a:p>
            <a:pPr algn="ctr">
              <a:spcAft>
                <a:spcPts val="1500"/>
              </a:spcAft>
              <a:defRPr sz="1100" b="1">
                <a:solidFill>
                  <a:srgbClr val="1E2431"/>
                </a:solidFill>
                <a:latin typeface="Arial"/>
              </a:defRPr>
            </a:pPr>
            <a:r>
              <a:t>Districts: Bilaspur, Kinnaur, Lahaul &amp; Spiti</a:t>
            </a:r>
          </a:p>
          <a:p>
            <a:pPr>
              <a:lnSpc>
                <a:spcPct val="130000"/>
              </a:lnSpc>
              <a:defRPr sz="1000">
                <a:solidFill>
                  <a:srgbClr val="1E2431"/>
                </a:solidFill>
                <a:latin typeface="Arial"/>
              </a:defRPr>
            </a:pPr>
            <a:r>
              <a:t>• 3 Total Districts (0 centers)</a:t>
            </a:r>
            <a:br/>
            <a:r>
              <a:t>• Zero physical collection points.</a:t>
            </a:r>
            <a:br/>
            <a:r>
              <a:t>• In extreme, rugged mountainous terrain (e.g. Lahaul &amp; Spiti), residents have absolutely no formal way to dispose of electronic waste.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TextBox 1"/>
          <p:cNvSpPr txBox="1"/>
          <p:nvPr/>
        </p:nvSpPr>
        <p:spPr>
          <a:xfrm>
            <a:off x="548640" y="365760"/>
            <a:ext cx="11094415" cy="731520"/>
          </a:xfrm>
          <a:prstGeom prst="rect">
            <a:avLst/>
          </a:prstGeom>
          <a:noFill/>
        </p:spPr>
        <p:txBody>
          <a:bodyPr wrap="square" tIns="0" bIns="0" lIns="0" rIns="0">
            <a:spAutoFit/>
          </a:bodyPr>
          <a:lstStyle/>
          <a:p>
            <a:pPr>
              <a:defRPr sz="2400" b="1">
                <a:solidFill>
                  <a:srgbClr val="1E2431"/>
                </a:solidFill>
                <a:latin typeface="Georgia"/>
              </a:defRPr>
            </a:pPr>
            <a:r>
              <a:t>IT and Telecom Products Make Up 64.5% of Electronic Waste</a:t>
            </a:r>
          </a:p>
        </p:txBody>
      </p:sp>
      <p:sp>
        <p:nvSpPr>
          <p:cNvPr id="3" name="Rectangle 2"/>
          <p:cNvSpPr/>
          <p:nvPr/>
        </p:nvSpPr>
        <p:spPr>
          <a:xfrm>
            <a:off x="548640" y="1097280"/>
            <a:ext cx="11094415" cy="2540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11094415" cy="365760"/>
          </a:xfrm>
          <a:prstGeom prst="rect">
            <a:avLst/>
          </a:prstGeom>
          <a:noFill/>
        </p:spPr>
        <p:txBody>
          <a:bodyPr wrap="square" tIns="0" bIns="0" lIns="0" rIns="0">
            <a:spAutoFit/>
          </a:bodyPr>
          <a:lstStyle/>
          <a:p>
            <a:pPr>
              <a:defRPr sz="1000">
                <a:solidFill>
                  <a:srgbClr val="646E7D"/>
                </a:solidFill>
                <a:latin typeface="Arial"/>
              </a:defRPr>
            </a:pPr>
            <a:r>
              <a:t>E-Waste in Himachal Pradesh: Classroom Presentation | State Tracker &amp; Report Analysis</a:t>
            </a:r>
          </a:p>
          <a:p>
            <a:pPr algn="r">
              <a:defRPr sz="900">
                <a:solidFill>
                  <a:srgbClr val="646E7D"/>
                </a:solidFill>
                <a:latin typeface="Arial"/>
              </a:defRPr>
            </a:pPr>
            <a:r>
              <a:t>Slide 7</a:t>
            </a:r>
          </a:p>
        </p:txBody>
      </p:sp>
      <p:pic>
        <p:nvPicPr>
          <p:cNvPr id="5" name="Picture 4" descr="composition_chart.png"/>
          <p:cNvPicPr>
            <a:picLocks noChangeAspect="1"/>
          </p:cNvPicPr>
          <p:nvPr/>
        </p:nvPicPr>
        <p:blipFill>
          <a:blip r:embed="rId2"/>
          <a:stretch>
            <a:fillRect/>
          </a:stretch>
        </p:blipFill>
        <p:spPr>
          <a:xfrm>
            <a:off x="548640" y="1645920"/>
            <a:ext cx="5303520" cy="4114800"/>
          </a:xfrm>
          <a:prstGeom prst="rect">
            <a:avLst/>
          </a:prstGeom>
        </p:spPr>
      </p:pic>
      <p:sp>
        <p:nvSpPr>
          <p:cNvPr id="6" name="TextBox 5"/>
          <p:cNvSpPr txBox="1"/>
          <p:nvPr/>
        </p:nvSpPr>
        <p:spPr>
          <a:xfrm>
            <a:off x="6217920" y="1645920"/>
            <a:ext cx="5394960" cy="4114800"/>
          </a:xfrm>
          <a:prstGeom prst="rect">
            <a:avLst/>
          </a:prstGeom>
          <a:noFill/>
        </p:spPr>
        <p:txBody>
          <a:bodyPr wrap="square">
            <a:spAutoFit/>
          </a:bodyPr>
          <a:lstStyle/>
          <a:p>
            <a:pPr>
              <a:spcAft>
                <a:spcPts val="1500"/>
              </a:spcAft>
              <a:defRPr sz="1800" b="1">
                <a:solidFill>
                  <a:srgbClr val="1E2431"/>
                </a:solidFill>
                <a:latin typeface="Georgia"/>
              </a:defRPr>
            </a:pPr>
            <a:r>
              <a:t>Composition Profile and Risks:</a:t>
            </a:r>
          </a:p>
          <a:p>
            <a:pPr>
              <a:spcAft>
                <a:spcPts val="1200"/>
              </a:spcAft>
              <a:defRPr sz="1200">
                <a:solidFill>
                  <a:srgbClr val="1E2431"/>
                </a:solidFill>
                <a:latin typeface="Arial"/>
              </a:defRPr>
            </a:pPr>
            <a:r>
              <a:t>• Dominated by High-Tech Consumption: IT &amp; Telecom equipment makes up 38.7% of the total waste, and Consumer Electronics adds another 25.8%. Together, these account for 64.5%.</a:t>
            </a:r>
          </a:p>
          <a:p>
            <a:pPr>
              <a:spcAft>
                <a:spcPts val="1200"/>
              </a:spcAft>
              <a:defRPr sz="1200">
                <a:solidFill>
                  <a:srgbClr val="1E2431"/>
                </a:solidFill>
                <a:latin typeface="Arial"/>
              </a:defRPr>
            </a:pPr>
            <a:r>
              <a:t>• Highly Lucrative Materials: Circuit boards and cables in this segment are highly valuable, containing copper, aluminum, and trace gold. This high market value drives the active informal scrap market.</a:t>
            </a:r>
          </a:p>
          <a:p>
            <a:pPr>
              <a:defRPr sz="1200">
                <a:solidFill>
                  <a:srgbClr val="1E2431"/>
                </a:solidFill>
                <a:latin typeface="Arial"/>
              </a:defRPr>
            </a:pPr>
            <a:r>
              <a:t>• Severe Toxic Hazard: This same 64.5% contains heavy-metal toxic substances (lead, mercury, cadmium). If dismantled using backyard methods, it results in long-term environmental contamination.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TextBox 1"/>
          <p:cNvSpPr txBox="1"/>
          <p:nvPr/>
        </p:nvSpPr>
        <p:spPr>
          <a:xfrm>
            <a:off x="548640" y="365760"/>
            <a:ext cx="11094415" cy="731520"/>
          </a:xfrm>
          <a:prstGeom prst="rect">
            <a:avLst/>
          </a:prstGeom>
          <a:noFill/>
        </p:spPr>
        <p:txBody>
          <a:bodyPr wrap="square" tIns="0" bIns="0" lIns="0" rIns="0">
            <a:spAutoFit/>
          </a:bodyPr>
          <a:lstStyle/>
          <a:p>
            <a:pPr>
              <a:defRPr sz="2400" b="1">
                <a:solidFill>
                  <a:srgbClr val="1E2431"/>
                </a:solidFill>
                <a:latin typeface="Georgia"/>
              </a:defRPr>
            </a:pPr>
            <a:r>
              <a:t>Zero Score in Informal Integration Pushes Scrap into Backyard Dismantling</a:t>
            </a:r>
          </a:p>
        </p:txBody>
      </p:sp>
      <p:sp>
        <p:nvSpPr>
          <p:cNvPr id="3" name="Rectangle 2"/>
          <p:cNvSpPr/>
          <p:nvPr/>
        </p:nvSpPr>
        <p:spPr>
          <a:xfrm>
            <a:off x="548640" y="1097280"/>
            <a:ext cx="11094415" cy="2540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11094415" cy="365760"/>
          </a:xfrm>
          <a:prstGeom prst="rect">
            <a:avLst/>
          </a:prstGeom>
          <a:noFill/>
        </p:spPr>
        <p:txBody>
          <a:bodyPr wrap="square" tIns="0" bIns="0" lIns="0" rIns="0">
            <a:spAutoFit/>
          </a:bodyPr>
          <a:lstStyle/>
          <a:p>
            <a:pPr>
              <a:defRPr sz="1000">
                <a:solidFill>
                  <a:srgbClr val="646E7D"/>
                </a:solidFill>
                <a:latin typeface="Arial"/>
              </a:defRPr>
            </a:pPr>
            <a:r>
              <a:t>E-Waste in Himachal Pradesh: Classroom Presentation | State Tracker &amp; Report Analysis</a:t>
            </a:r>
          </a:p>
          <a:p>
            <a:pPr algn="r">
              <a:defRPr sz="900">
                <a:solidFill>
                  <a:srgbClr val="646E7D"/>
                </a:solidFill>
                <a:latin typeface="Arial"/>
              </a:defRPr>
            </a:pPr>
            <a:r>
              <a:t>Slide 8</a:t>
            </a:r>
          </a:p>
        </p:txBody>
      </p:sp>
      <p:sp>
        <p:nvSpPr>
          <p:cNvPr id="5" name="Rounded Rectangle 4"/>
          <p:cNvSpPr/>
          <p:nvPr/>
        </p:nvSpPr>
        <p:spPr>
          <a:xfrm>
            <a:off x="548640" y="1645920"/>
            <a:ext cx="3383280" cy="2926080"/>
          </a:xfrm>
          <a:prstGeom prst="roundRect">
            <a:avLst/>
          </a:prstGeom>
          <a:solidFill>
            <a:srgbClr val="FFFFFF"/>
          </a:solidFill>
          <a:ln w="3175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spcAft>
                <a:spcPts val="2000"/>
              </a:spcAft>
              <a:defRPr sz="1200" b="1">
                <a:solidFill>
                  <a:srgbClr val="1976D2"/>
                </a:solidFill>
                <a:latin typeface="Arial"/>
              </a:defRPr>
            </a:pPr>
            <a:r>
              <a:t>STAGE 1: HYPERLOCAL COLLECTION</a:t>
            </a:r>
          </a:p>
          <a:p>
            <a:pPr>
              <a:lnSpc>
                <a:spcPct val="130000"/>
              </a:lnSpc>
              <a:defRPr sz="1100">
                <a:solidFill>
                  <a:srgbClr val="1E2431"/>
                </a:solidFill>
                <a:latin typeface="Arial"/>
              </a:defRPr>
            </a:pPr>
            <a:r>
              <a:t>Informal scrap dealers ('Kabadiwalas') collect the vast majority of household e-waste door-to-door, completely bypassing the 15 registered, formal collection centers.</a:t>
            </a:r>
          </a:p>
        </p:txBody>
      </p:sp>
      <p:sp>
        <p:nvSpPr>
          <p:cNvPr id="6" name="Chevron 5"/>
          <p:cNvSpPr/>
          <p:nvPr/>
        </p:nvSpPr>
        <p:spPr>
          <a:xfrm>
            <a:off x="4023360" y="2834640"/>
            <a:ext cx="274320" cy="548640"/>
          </a:xfrm>
          <a:prstGeom prst="chevron">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89120" y="1645920"/>
            <a:ext cx="3383280" cy="2926080"/>
          </a:xfrm>
          <a:prstGeom prst="roundRect">
            <a:avLst/>
          </a:prstGeom>
          <a:solidFill>
            <a:srgbClr val="FFFFFF"/>
          </a:solidFill>
          <a:ln w="31750">
            <a:solidFill>
              <a:srgbClr val="D32F2F"/>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spcAft>
                <a:spcPts val="2000"/>
              </a:spcAft>
              <a:defRPr sz="1200" b="1">
                <a:solidFill>
                  <a:srgbClr val="D32F2F"/>
                </a:solidFill>
                <a:latin typeface="Arial"/>
              </a:defRPr>
            </a:pPr>
            <a:r>
              <a:t>STAGE 2: HAZARDOUS PROCESSING</a:t>
            </a:r>
          </a:p>
          <a:p>
            <a:pPr>
              <a:lnSpc>
                <a:spcPct val="130000"/>
              </a:lnSpc>
              <a:defRPr sz="1100">
                <a:solidFill>
                  <a:srgbClr val="1E2431"/>
                </a:solidFill>
                <a:latin typeface="Arial"/>
              </a:defRPr>
            </a:pPr>
            <a:r>
              <a:t>Because scrap dealers have zero formal training or regulatory support, they dismantle electronics in non-industrial residential areas using open cable burning and crude acid baths.</a:t>
            </a:r>
          </a:p>
        </p:txBody>
      </p:sp>
      <p:sp>
        <p:nvSpPr>
          <p:cNvPr id="8" name="Chevron 7"/>
          <p:cNvSpPr/>
          <p:nvPr/>
        </p:nvSpPr>
        <p:spPr>
          <a:xfrm>
            <a:off x="7863840" y="2834640"/>
            <a:ext cx="274320" cy="548640"/>
          </a:xfrm>
          <a:prstGeom prst="chevron">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229600" y="1645920"/>
            <a:ext cx="3383280" cy="2926080"/>
          </a:xfrm>
          <a:prstGeom prst="roundRect">
            <a:avLst/>
          </a:prstGeom>
          <a:solidFill>
            <a:srgbClr val="FFFFFF"/>
          </a:solidFill>
          <a:ln w="31750">
            <a:solidFill>
              <a:srgbClr val="D32F2F"/>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spcAft>
                <a:spcPts val="2000"/>
              </a:spcAft>
              <a:defRPr sz="1200" b="1">
                <a:solidFill>
                  <a:srgbClr val="D32F2F"/>
                </a:solidFill>
                <a:latin typeface="Arial"/>
              </a:defRPr>
            </a:pPr>
            <a:r>
              <a:t>STAGE 3: TOXIC DISPOSAL</a:t>
            </a:r>
          </a:p>
          <a:p>
            <a:pPr>
              <a:lnSpc>
                <a:spcPct val="130000"/>
              </a:lnSpc>
              <a:defRPr sz="1100">
                <a:solidFill>
                  <a:srgbClr val="1E2431"/>
                </a:solidFill>
                <a:latin typeface="Arial"/>
              </a:defRPr>
            </a:pPr>
            <a:r>
              <a:t>Acid residue and heavy metals are dumped directly into soil, contaminating pristine Himalayan water systems. Scrap workers face critical health hazards from toxic fumes.</a:t>
            </a:r>
          </a:p>
        </p:txBody>
      </p:sp>
      <p:sp>
        <p:nvSpPr>
          <p:cNvPr id="10" name="TextBox 9"/>
          <p:cNvSpPr txBox="1"/>
          <p:nvPr/>
        </p:nvSpPr>
        <p:spPr>
          <a:xfrm>
            <a:off x="548640" y="4846320"/>
            <a:ext cx="11094415" cy="1097280"/>
          </a:xfrm>
          <a:prstGeom prst="rect">
            <a:avLst/>
          </a:prstGeom>
          <a:noFill/>
        </p:spPr>
        <p:txBody>
          <a:bodyPr wrap="square" tIns="91440">
            <a:spAutoFit/>
          </a:bodyPr>
          <a:lstStyle/>
          <a:p>
            <a:pPr algn="ctr">
              <a:spcAft>
                <a:spcPts val="400"/>
              </a:spcAft>
              <a:defRPr sz="1300" b="1">
                <a:solidFill>
                  <a:srgbClr val="D32F2F"/>
                </a:solidFill>
                <a:latin typeface="Arial"/>
              </a:defRPr>
            </a:pPr>
            <a:r>
              <a:t>TRACKER SCORE FOR INFORMAL SECTOR INTEGRATION: 0.0 / 10.0</a:t>
            </a:r>
          </a:p>
          <a:p>
            <a:pPr algn="ctr">
              <a:defRPr sz="1100" i="1">
                <a:solidFill>
                  <a:srgbClr val="1E2431"/>
                </a:solidFill>
                <a:latin typeface="Arial"/>
              </a:defRPr>
            </a:pPr>
            <a:r>
              <a:t>Banning scrap dealers does not stop e-waste leakage. They are the actual logistics backbone of state collection. Integrating them formally is the single most urgent task.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TextBox 1"/>
          <p:cNvSpPr txBox="1"/>
          <p:nvPr/>
        </p:nvSpPr>
        <p:spPr>
          <a:xfrm>
            <a:off x="548640" y="365760"/>
            <a:ext cx="11094415" cy="731520"/>
          </a:xfrm>
          <a:prstGeom prst="rect">
            <a:avLst/>
          </a:prstGeom>
          <a:noFill/>
        </p:spPr>
        <p:txBody>
          <a:bodyPr wrap="square" tIns="0" bIns="0" lIns="0" rIns="0">
            <a:spAutoFit/>
          </a:bodyPr>
          <a:lstStyle/>
          <a:p>
            <a:pPr>
              <a:defRPr sz="2400" b="1">
                <a:solidFill>
                  <a:srgbClr val="1E2431"/>
                </a:solidFill>
                <a:latin typeface="Georgia"/>
              </a:defRPr>
            </a:pPr>
            <a:r>
              <a:t>Producers Achieve 79.7% of Compliance Targets in Corporate Silos</a:t>
            </a:r>
          </a:p>
        </p:txBody>
      </p:sp>
      <p:sp>
        <p:nvSpPr>
          <p:cNvPr id="3" name="Rectangle 2"/>
          <p:cNvSpPr/>
          <p:nvPr/>
        </p:nvSpPr>
        <p:spPr>
          <a:xfrm>
            <a:off x="548640" y="1097280"/>
            <a:ext cx="11094415" cy="2540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11094415" cy="365760"/>
          </a:xfrm>
          <a:prstGeom prst="rect">
            <a:avLst/>
          </a:prstGeom>
          <a:noFill/>
        </p:spPr>
        <p:txBody>
          <a:bodyPr wrap="square" tIns="0" bIns="0" lIns="0" rIns="0">
            <a:spAutoFit/>
          </a:bodyPr>
          <a:lstStyle/>
          <a:p>
            <a:pPr>
              <a:defRPr sz="1000">
                <a:solidFill>
                  <a:srgbClr val="646E7D"/>
                </a:solidFill>
                <a:latin typeface="Arial"/>
              </a:defRPr>
            </a:pPr>
            <a:r>
              <a:t>E-Waste in Himachal Pradesh: Classroom Presentation | State Tracker &amp; Report Analysis</a:t>
            </a:r>
          </a:p>
          <a:p>
            <a:pPr algn="r">
              <a:defRPr sz="900">
                <a:solidFill>
                  <a:srgbClr val="646E7D"/>
                </a:solidFill>
                <a:latin typeface="Arial"/>
              </a:defRPr>
            </a:pPr>
            <a:r>
              <a:t>Slide 9</a:t>
            </a:r>
          </a:p>
        </p:txBody>
      </p:sp>
      <p:sp>
        <p:nvSpPr>
          <p:cNvPr id="5" name="Rounded Rectangle 4"/>
          <p:cNvSpPr/>
          <p:nvPr/>
        </p:nvSpPr>
        <p:spPr>
          <a:xfrm>
            <a:off x="548640" y="1645920"/>
            <a:ext cx="5303520" cy="4114800"/>
          </a:xfrm>
          <a:prstGeom prst="roundRect">
            <a:avLst/>
          </a:prstGeom>
          <a:solidFill>
            <a:srgbClr val="FFFFFF"/>
          </a:solidFill>
          <a:ln w="3175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tIns="182880" lIns="228600" rIns="228600"/>
          <a:lstStyle/>
          <a:p>
            <a:pPr algn="ctr">
              <a:spcAft>
                <a:spcPts val="2000"/>
              </a:spcAft>
              <a:defRPr sz="1300" b="1">
                <a:solidFill>
                  <a:srgbClr val="1976D2"/>
                </a:solidFill>
                <a:latin typeface="Arial"/>
              </a:defRPr>
            </a:pPr>
            <a:r>
              <a:t>REGULATORY REGISTRATION &amp; SCORE</a:t>
            </a:r>
          </a:p>
          <a:p>
            <a:pPr>
              <a:spcAft>
                <a:spcPts val="1500"/>
              </a:spcAft>
              <a:defRPr sz="1200">
                <a:solidFill>
                  <a:srgbClr val="1E2431"/>
                </a:solidFill>
                <a:latin typeface="Arial"/>
              </a:defRPr>
            </a:pPr>
            <a:r>
              <a:t>• Compliance Score: 11.3 / 15.0 ('Adequate' status). Represents 75.0% performance of targets.</a:t>
            </a:r>
          </a:p>
          <a:p>
            <a:pPr>
              <a:spcAft>
                <a:spcPts val="1500"/>
              </a:spcAft>
              <a:defRPr sz="1200">
                <a:solidFill>
                  <a:srgbClr val="1E2431"/>
                </a:solidFill>
                <a:latin typeface="Arial"/>
              </a:defRPr>
            </a:pPr>
            <a:r>
              <a:t>• Registered Compliant Entities: 10 major manufacturers are formally registered in the state database.</a:t>
            </a:r>
          </a:p>
          <a:p>
            <a:pPr>
              <a:defRPr sz="1200">
                <a:solidFill>
                  <a:srgbClr val="1E2431"/>
                </a:solidFill>
                <a:latin typeface="Arial"/>
              </a:defRPr>
            </a:pPr>
            <a:r>
              <a:t>• Corporate Focus: These producers succeed because they focus on corporate offices and bulk consumers, completely ignoring municipal household waste.</a:t>
            </a:r>
          </a:p>
        </p:txBody>
      </p:sp>
      <p:sp>
        <p:nvSpPr>
          <p:cNvPr id="6" name="Rounded Rectangle 5"/>
          <p:cNvSpPr/>
          <p:nvPr/>
        </p:nvSpPr>
        <p:spPr>
          <a:xfrm>
            <a:off x="6309360" y="1645920"/>
            <a:ext cx="5303520" cy="4114800"/>
          </a:xfrm>
          <a:prstGeom prst="roundRect">
            <a:avLst/>
          </a:prstGeom>
          <a:solidFill>
            <a:srgbClr val="FFFFFF"/>
          </a:solidFill>
          <a:ln w="31750">
            <a:solidFill>
              <a:srgbClr val="106E41"/>
            </a:solidFill>
          </a:ln>
        </p:spPr>
        <p:style>
          <a:lnRef idx="1">
            <a:schemeClr val="accent1"/>
          </a:lnRef>
          <a:fillRef idx="3">
            <a:schemeClr val="accent1"/>
          </a:fillRef>
          <a:effectRef idx="2">
            <a:schemeClr val="accent1"/>
          </a:effectRef>
          <a:fontRef idx="minor">
            <a:schemeClr val="lt1"/>
          </a:fontRef>
        </p:style>
        <p:txBody>
          <a:bodyPr rtlCol="0" anchor="ctr" wrap="square" tIns="182880" lIns="228600" rIns="228600"/>
          <a:lstStyle/>
          <a:p>
            <a:pPr algn="ctr">
              <a:spcAft>
                <a:spcPts val="2000"/>
              </a:spcAft>
              <a:defRPr sz="1300" b="1">
                <a:solidFill>
                  <a:srgbClr val="106E41"/>
                </a:solidFill>
                <a:latin typeface="Arial"/>
              </a:defRPr>
            </a:pPr>
            <a:r>
              <a:t>EPR COLLECTION PERFORMANCE</a:t>
            </a:r>
          </a:p>
          <a:p>
            <a:pPr>
              <a:spcAft>
                <a:spcPts val="1000"/>
              </a:spcAft>
              <a:defRPr sz="1300" b="1">
                <a:solidFill>
                  <a:srgbClr val="1E2431"/>
                </a:solidFill>
                <a:latin typeface="Arial"/>
              </a:defRPr>
            </a:pPr>
            <a:r>
              <a:t>• EPR Collection Target: 417,648 kg</a:t>
            </a:r>
          </a:p>
          <a:p>
            <a:pPr>
              <a:spcAft>
                <a:spcPts val="1000"/>
              </a:spcAft>
              <a:defRPr sz="1300" b="1">
                <a:solidFill>
                  <a:srgbClr val="106E41"/>
                </a:solidFill>
                <a:latin typeface="Arial"/>
              </a:defRPr>
            </a:pPr>
            <a:r>
              <a:t>• EPR Collection Achieved: 332,682 kg</a:t>
            </a:r>
          </a:p>
          <a:p>
            <a:pPr>
              <a:spcAft>
                <a:spcPts val="1500"/>
              </a:spcAft>
              <a:defRPr sz="1300" b="1">
                <a:solidFill>
                  <a:srgbClr val="1E2431"/>
                </a:solidFill>
                <a:latin typeface="Arial"/>
              </a:defRPr>
            </a:pPr>
            <a:r>
              <a:t>• Compliance Achievement Rate: 79.7%</a:t>
            </a:r>
          </a:p>
          <a:p>
            <a:pPr>
              <a:defRPr sz="1100">
                <a:solidFill>
                  <a:srgbClr val="646E7D"/>
                </a:solidFill>
                <a:latin typeface="Arial"/>
              </a:defRPr>
            </a:pPr>
            <a:r>
              <a:t>• Policy Insight: EPR targets are highly effective in controlled commercial environments, but fail to resolve the public consumer collection challenge.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TextBox 1"/>
          <p:cNvSpPr txBox="1"/>
          <p:nvPr/>
        </p:nvSpPr>
        <p:spPr>
          <a:xfrm>
            <a:off x="548640" y="365760"/>
            <a:ext cx="11094415" cy="731520"/>
          </a:xfrm>
          <a:prstGeom prst="rect">
            <a:avLst/>
          </a:prstGeom>
          <a:noFill/>
        </p:spPr>
        <p:txBody>
          <a:bodyPr wrap="square" tIns="0" bIns="0" lIns="0" rIns="0">
            <a:spAutoFit/>
          </a:bodyPr>
          <a:lstStyle/>
          <a:p>
            <a:pPr>
              <a:defRPr sz="2400" b="1">
                <a:solidFill>
                  <a:srgbClr val="1E2431"/>
                </a:solidFill>
                <a:latin typeface="Georgia"/>
              </a:defRPr>
            </a:pPr>
            <a:r>
              <a:t>Four Structural Blockages Starve State-of-the-Art Recyclers</a:t>
            </a:r>
          </a:p>
        </p:txBody>
      </p:sp>
      <p:sp>
        <p:nvSpPr>
          <p:cNvPr id="3" name="Rectangle 2"/>
          <p:cNvSpPr/>
          <p:nvPr/>
        </p:nvSpPr>
        <p:spPr>
          <a:xfrm>
            <a:off x="548640" y="1097280"/>
            <a:ext cx="11094415" cy="2540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11094415" cy="365760"/>
          </a:xfrm>
          <a:prstGeom prst="rect">
            <a:avLst/>
          </a:prstGeom>
          <a:noFill/>
        </p:spPr>
        <p:txBody>
          <a:bodyPr wrap="square" tIns="0" bIns="0" lIns="0" rIns="0">
            <a:spAutoFit/>
          </a:bodyPr>
          <a:lstStyle/>
          <a:p>
            <a:pPr>
              <a:defRPr sz="1000">
                <a:solidFill>
                  <a:srgbClr val="646E7D"/>
                </a:solidFill>
                <a:latin typeface="Arial"/>
              </a:defRPr>
            </a:pPr>
            <a:r>
              <a:t>E-Waste in Himachal Pradesh: Classroom Presentation | State Tracker &amp; Report Analysis</a:t>
            </a:r>
          </a:p>
          <a:p>
            <a:pPr algn="r">
              <a:defRPr sz="900">
                <a:solidFill>
                  <a:srgbClr val="646E7D"/>
                </a:solidFill>
                <a:latin typeface="Arial"/>
              </a:defRPr>
            </a:pPr>
            <a:r>
              <a:t>Slide 10</a:t>
            </a:r>
          </a:p>
        </p:txBody>
      </p:sp>
      <p:sp>
        <p:nvSpPr>
          <p:cNvPr id="5" name="Rounded Rectangle 4"/>
          <p:cNvSpPr/>
          <p:nvPr/>
        </p:nvSpPr>
        <p:spPr>
          <a:xfrm>
            <a:off x="548640" y="1645920"/>
            <a:ext cx="5303520" cy="1920240"/>
          </a:xfrm>
          <a:prstGeom prst="roundRect">
            <a:avLst/>
          </a:prstGeom>
          <a:solidFill>
            <a:srgbClr val="FFFFFF"/>
          </a:solidFill>
          <a:ln w="25400">
            <a:solidFill>
              <a:srgbClr val="D32F2F"/>
            </a:solidFill>
          </a:ln>
        </p:spPr>
        <p:style>
          <a:lnRef idx="1">
            <a:schemeClr val="accent1"/>
          </a:lnRef>
          <a:fillRef idx="3">
            <a:schemeClr val="accent1"/>
          </a:fillRef>
          <a:effectRef idx="2">
            <a:schemeClr val="accent1"/>
          </a:effectRef>
          <a:fontRef idx="minor">
            <a:schemeClr val="lt1"/>
          </a:fontRef>
        </p:style>
        <p:txBody>
          <a:bodyPr rtlCol="0" anchor="ctr" wrap="square" tIns="137160" lIns="182880" rIns="182880"/>
          <a:lstStyle/>
          <a:p>
            <a:pPr algn="ctr">
              <a:spcAft>
                <a:spcPts val="500"/>
              </a:spcAft>
              <a:defRPr sz="1200" b="1">
                <a:solidFill>
                  <a:srgbClr val="D32F2F"/>
                </a:solidFill>
                <a:latin typeface="Arial"/>
              </a:defRPr>
            </a:pPr>
            <a:r>
              <a:t>1. ZERO UPSTREAM CONVENIENCE</a:t>
            </a:r>
          </a:p>
          <a:p>
            <a:pPr>
              <a:lnSpc>
                <a:spcPct val="130000"/>
              </a:lnSpc>
              <a:defRPr sz="1050">
                <a:solidFill>
                  <a:srgbClr val="1E2431"/>
                </a:solidFill>
                <a:latin typeface="Arial"/>
              </a:defRPr>
            </a:pPr>
            <a:r>
              <a:t>There are no municipal ward e-waste drop-off bins or mandatory point-of-sale retail take-back programs, leaving citizens with zero formal avenues for disposal.</a:t>
            </a:r>
          </a:p>
        </p:txBody>
      </p:sp>
      <p:sp>
        <p:nvSpPr>
          <p:cNvPr id="6" name="Rounded Rectangle 5"/>
          <p:cNvSpPr/>
          <p:nvPr/>
        </p:nvSpPr>
        <p:spPr>
          <a:xfrm>
            <a:off x="6309360" y="1645920"/>
            <a:ext cx="5303520" cy="1920240"/>
          </a:xfrm>
          <a:prstGeom prst="roundRect">
            <a:avLst/>
          </a:prstGeom>
          <a:solidFill>
            <a:srgbClr val="FFFFFF"/>
          </a:solidFill>
          <a:ln w="254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tIns="137160" lIns="182880" rIns="182880"/>
          <a:lstStyle/>
          <a:p>
            <a:pPr algn="ctr">
              <a:spcAft>
                <a:spcPts val="500"/>
              </a:spcAft>
              <a:defRPr sz="1200" b="1">
                <a:solidFill>
                  <a:srgbClr val="1976D2"/>
                </a:solidFill>
                <a:latin typeface="Arial"/>
              </a:defRPr>
            </a:pPr>
            <a:r>
              <a:t>2. THE INVENTORY DATA BLINDSPOT</a:t>
            </a:r>
          </a:p>
          <a:p>
            <a:pPr>
              <a:lnSpc>
                <a:spcPct val="130000"/>
              </a:lnSpc>
              <a:defRPr sz="1050">
                <a:solidFill>
                  <a:srgbClr val="1E2431"/>
                </a:solidFill>
                <a:latin typeface="Arial"/>
              </a:defRPr>
            </a:pPr>
            <a:r>
              <a:t>HP scores a flat 0/15 in Generation &amp; Inventory. Multipliers are outdated and based on generic populations rather than localized mountain sector data.</a:t>
            </a:r>
          </a:p>
        </p:txBody>
      </p:sp>
      <p:sp>
        <p:nvSpPr>
          <p:cNvPr id="7" name="Rounded Rectangle 6"/>
          <p:cNvSpPr/>
          <p:nvPr/>
        </p:nvSpPr>
        <p:spPr>
          <a:xfrm>
            <a:off x="548640" y="3840480"/>
            <a:ext cx="5303520" cy="1920240"/>
          </a:xfrm>
          <a:prstGeom prst="roundRect">
            <a:avLst/>
          </a:prstGeom>
          <a:solidFill>
            <a:srgbClr val="FFFFFF"/>
          </a:solidFill>
          <a:ln w="25400">
            <a:solidFill>
              <a:srgbClr val="D32F2F"/>
            </a:solidFill>
          </a:ln>
        </p:spPr>
        <p:style>
          <a:lnRef idx="1">
            <a:schemeClr val="accent1"/>
          </a:lnRef>
          <a:fillRef idx="3">
            <a:schemeClr val="accent1"/>
          </a:fillRef>
          <a:effectRef idx="2">
            <a:schemeClr val="accent1"/>
          </a:effectRef>
          <a:fontRef idx="minor">
            <a:schemeClr val="lt1"/>
          </a:fontRef>
        </p:style>
        <p:txBody>
          <a:bodyPr rtlCol="0" anchor="ctr" wrap="square" tIns="137160" lIns="182880" rIns="182880"/>
          <a:lstStyle/>
          <a:p>
            <a:pPr algn="ctr">
              <a:spcAft>
                <a:spcPts val="500"/>
              </a:spcAft>
              <a:defRPr sz="1200" b="1">
                <a:solidFill>
                  <a:srgbClr val="D32F2F"/>
                </a:solidFill>
                <a:latin typeface="Arial"/>
              </a:defRPr>
            </a:pPr>
            <a:r>
              <a:t>3. EXTREME INFRASTRUCTURE CLUSTERING</a:t>
            </a:r>
          </a:p>
          <a:p>
            <a:pPr>
              <a:lnSpc>
                <a:spcPct val="130000"/>
              </a:lnSpc>
              <a:defRPr sz="1050">
                <a:solidFill>
                  <a:srgbClr val="1E2431"/>
                </a:solidFill>
                <a:latin typeface="Arial"/>
              </a:defRPr>
            </a:pPr>
            <a:r>
              <a:t>60% of registered collection centers are clustered in Solan, Shimla, and Kangra. Remote mountain districts like Kinnaur or Lahaul &amp; Spiti have zero centers.</a:t>
            </a:r>
          </a:p>
        </p:txBody>
      </p:sp>
      <p:sp>
        <p:nvSpPr>
          <p:cNvPr id="8" name="Rounded Rectangle 7"/>
          <p:cNvSpPr/>
          <p:nvPr/>
        </p:nvSpPr>
        <p:spPr>
          <a:xfrm>
            <a:off x="6309360" y="3840480"/>
            <a:ext cx="5303520" cy="1920240"/>
          </a:xfrm>
          <a:prstGeom prst="roundRect">
            <a:avLst/>
          </a:prstGeom>
          <a:solidFill>
            <a:srgbClr val="FFFFFF"/>
          </a:solidFill>
          <a:ln w="2540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tIns="137160" lIns="182880" rIns="182880"/>
          <a:lstStyle/>
          <a:p>
            <a:pPr algn="ctr">
              <a:spcAft>
                <a:spcPts val="500"/>
              </a:spcAft>
              <a:defRPr sz="1200" b="1">
                <a:solidFill>
                  <a:srgbClr val="1976D2"/>
                </a:solidFill>
                <a:latin typeface="Arial"/>
              </a:defRPr>
            </a:pPr>
            <a:r>
              <a:t>4. EXCLUSION OF THE INFORMAL SECTOR</a:t>
            </a:r>
          </a:p>
          <a:p>
            <a:pPr>
              <a:lnSpc>
                <a:spcPct val="130000"/>
              </a:lnSpc>
              <a:defRPr sz="1050">
                <a:solidFill>
                  <a:srgbClr val="1E2431"/>
                </a:solidFill>
                <a:latin typeface="Arial"/>
              </a:defRPr>
            </a:pPr>
            <a:r>
              <a:t>HP scores a flat 0/10 in informal integration. Treating Kabadiwalas as illegal entities pushes them into residential backyard processing instead of formal routes.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TextBox 1"/>
          <p:cNvSpPr txBox="1"/>
          <p:nvPr/>
        </p:nvSpPr>
        <p:spPr>
          <a:xfrm>
            <a:off x="548640" y="365760"/>
            <a:ext cx="11094415" cy="731520"/>
          </a:xfrm>
          <a:prstGeom prst="rect">
            <a:avLst/>
          </a:prstGeom>
          <a:noFill/>
        </p:spPr>
        <p:txBody>
          <a:bodyPr wrap="square" tIns="0" bIns="0" lIns="0" rIns="0">
            <a:spAutoFit/>
          </a:bodyPr>
          <a:lstStyle/>
          <a:p>
            <a:pPr>
              <a:defRPr sz="2400" b="1">
                <a:solidFill>
                  <a:srgbClr val="1E2431"/>
                </a:solidFill>
                <a:latin typeface="Georgia"/>
              </a:defRPr>
            </a:pPr>
            <a:r>
              <a:t>Three Strategic Pillars Bridge the Collection and Data Gap</a:t>
            </a:r>
          </a:p>
        </p:txBody>
      </p:sp>
      <p:sp>
        <p:nvSpPr>
          <p:cNvPr id="3" name="Rectangle 2"/>
          <p:cNvSpPr/>
          <p:nvPr/>
        </p:nvSpPr>
        <p:spPr>
          <a:xfrm>
            <a:off x="548640" y="1097280"/>
            <a:ext cx="11094415" cy="2540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11094415" cy="365760"/>
          </a:xfrm>
          <a:prstGeom prst="rect">
            <a:avLst/>
          </a:prstGeom>
          <a:noFill/>
        </p:spPr>
        <p:txBody>
          <a:bodyPr wrap="square" tIns="0" bIns="0" lIns="0" rIns="0">
            <a:spAutoFit/>
          </a:bodyPr>
          <a:lstStyle/>
          <a:p>
            <a:pPr>
              <a:defRPr sz="1000">
                <a:solidFill>
                  <a:srgbClr val="646E7D"/>
                </a:solidFill>
                <a:latin typeface="Arial"/>
              </a:defRPr>
            </a:pPr>
            <a:r>
              <a:t>E-Waste in Himachal Pradesh: Classroom Presentation | State Tracker &amp; Report Analysis</a:t>
            </a:r>
          </a:p>
          <a:p>
            <a:pPr algn="r">
              <a:defRPr sz="900">
                <a:solidFill>
                  <a:srgbClr val="646E7D"/>
                </a:solidFill>
                <a:latin typeface="Arial"/>
              </a:defRPr>
            </a:pPr>
            <a:r>
              <a:t>Slide 11</a:t>
            </a:r>
          </a:p>
        </p:txBody>
      </p:sp>
      <p:sp>
        <p:nvSpPr>
          <p:cNvPr id="5" name="Rounded Rectangle 4"/>
          <p:cNvSpPr/>
          <p:nvPr/>
        </p:nvSpPr>
        <p:spPr>
          <a:xfrm>
            <a:off x="548640" y="1645920"/>
            <a:ext cx="3383280" cy="4114800"/>
          </a:xfrm>
          <a:prstGeom prst="roundRect">
            <a:avLst/>
          </a:prstGeom>
          <a:solidFill>
            <a:srgbClr val="FFFFFF"/>
          </a:solidFill>
          <a:ln w="31750">
            <a:solidFill>
              <a:srgbClr val="106E41"/>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200" b="1">
                <a:solidFill>
                  <a:srgbClr val="106E41"/>
                </a:solidFill>
                <a:latin typeface="Arial"/>
              </a:defRPr>
            </a:pPr>
            <a:r>
              <a:t>PILLAR A: PHYSICAL INFRASTRUCTURE</a:t>
            </a:r>
          </a:p>
          <a:p>
            <a:pPr algn="ctr">
              <a:spcAft>
                <a:spcPts val="2000"/>
              </a:spcAft>
              <a:defRPr sz="1100" i="1">
                <a:solidFill>
                  <a:srgbClr val="646E7D"/>
                </a:solidFill>
                <a:latin typeface="Arial"/>
              </a:defRPr>
            </a:pPr>
            <a:r>
              <a:t>Targeting Collection Deficits</a:t>
            </a:r>
          </a:p>
          <a:p>
            <a:pPr>
              <a:lnSpc>
                <a:spcPct val="135000"/>
              </a:lnSpc>
              <a:defRPr sz="1050">
                <a:solidFill>
                  <a:srgbClr val="1E2431"/>
                </a:solidFill>
                <a:latin typeface="Arial"/>
              </a:defRPr>
            </a:pPr>
            <a:r>
              <a:t>• Mandate Local Urban Bodies (ULBs) to establish at least one permanent e-waste drop-off bin in every municipal ward.</a:t>
            </a:r>
            <a:br/>
            <a:br/>
            <a:r>
              <a:t>• Partner with major retail chains and electronics brands to implement mandatory retail take-back counters (point-of-sale collection).</a:t>
            </a:r>
          </a:p>
        </p:txBody>
      </p:sp>
      <p:sp>
        <p:nvSpPr>
          <p:cNvPr id="6" name="Rounded Rectangle 5"/>
          <p:cNvSpPr/>
          <p:nvPr/>
        </p:nvSpPr>
        <p:spPr>
          <a:xfrm>
            <a:off x="4389120" y="1645920"/>
            <a:ext cx="3383280" cy="4114800"/>
          </a:xfrm>
          <a:prstGeom prst="roundRect">
            <a:avLst/>
          </a:prstGeom>
          <a:solidFill>
            <a:srgbClr val="FFFFFF"/>
          </a:solidFill>
          <a:ln w="31750">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200" b="1">
                <a:solidFill>
                  <a:srgbClr val="1976D2"/>
                </a:solidFill>
                <a:latin typeface="Arial"/>
              </a:defRPr>
            </a:pPr>
            <a:r>
              <a:t>PILLAR B: INFORMAL SECTOR INTEGRATION</a:t>
            </a:r>
          </a:p>
          <a:p>
            <a:pPr algn="ctr">
              <a:spcAft>
                <a:spcPts val="2000"/>
              </a:spcAft>
              <a:defRPr sz="1100" i="1">
                <a:solidFill>
                  <a:srgbClr val="646E7D"/>
                </a:solidFill>
                <a:latin typeface="Arial"/>
              </a:defRPr>
            </a:pPr>
            <a:r>
              <a:t>Targeting Zero Scrap Score</a:t>
            </a:r>
          </a:p>
          <a:p>
            <a:pPr>
              <a:lnSpc>
                <a:spcPct val="135000"/>
              </a:lnSpc>
              <a:defRPr sz="1050">
                <a:solidFill>
                  <a:srgbClr val="1E2431"/>
                </a:solidFill>
                <a:latin typeface="Arial"/>
              </a:defRPr>
            </a:pPr>
            <a:r>
              <a:t>• Create a formal digital registration portal for Kabadiwalas, providing protective gear and financial incentives.</a:t>
            </a:r>
            <a:br/>
            <a:br/>
            <a:r>
              <a:t>• Launch state-funded skill-development programs to train informal scrap dealers in safe dismantling techniques and redirect materials to formal recyclers.</a:t>
            </a:r>
          </a:p>
        </p:txBody>
      </p:sp>
      <p:sp>
        <p:nvSpPr>
          <p:cNvPr id="7" name="Rounded Rectangle 6"/>
          <p:cNvSpPr/>
          <p:nvPr/>
        </p:nvSpPr>
        <p:spPr>
          <a:xfrm>
            <a:off x="8229600" y="1645920"/>
            <a:ext cx="3383280" cy="4114800"/>
          </a:xfrm>
          <a:prstGeom prst="roundRect">
            <a:avLst/>
          </a:prstGeom>
          <a:solidFill>
            <a:srgbClr val="FFFFFF"/>
          </a:solidFill>
          <a:ln w="31750">
            <a:solidFill>
              <a:srgbClr val="106E41"/>
            </a:solidFill>
          </a:ln>
        </p:spPr>
        <p:style>
          <a:lnRef idx="1">
            <a:schemeClr val="accent1"/>
          </a:lnRef>
          <a:fillRef idx="3">
            <a:schemeClr val="accent1"/>
          </a:fillRef>
          <a:effectRef idx="2">
            <a:schemeClr val="accent1"/>
          </a:effectRef>
          <a:fontRef idx="minor">
            <a:schemeClr val="lt1"/>
          </a:fontRef>
        </p:style>
        <p:txBody>
          <a:bodyPr rtlCol="0" anchor="ctr" wrap="square" tIns="182880" lIns="182880" rIns="182880"/>
          <a:lstStyle/>
          <a:p>
            <a:pPr algn="ctr">
              <a:defRPr sz="1200" b="1">
                <a:solidFill>
                  <a:srgbClr val="106E41"/>
                </a:solidFill>
                <a:latin typeface="Arial"/>
              </a:defRPr>
            </a:pPr>
            <a:r>
              <a:t>PILLAR C: DATA TRANSPARENCY &amp; TRACKING</a:t>
            </a:r>
          </a:p>
          <a:p>
            <a:pPr algn="ctr">
              <a:spcAft>
                <a:spcPts val="2000"/>
              </a:spcAft>
              <a:defRPr sz="1100" i="1">
                <a:solidFill>
                  <a:srgbClr val="646E7D"/>
                </a:solidFill>
                <a:latin typeface="Arial"/>
              </a:defRPr>
            </a:pPr>
            <a:r>
              <a:t>Targeting 0/15 Inventory Score</a:t>
            </a:r>
          </a:p>
          <a:p>
            <a:pPr>
              <a:lnSpc>
                <a:spcPct val="135000"/>
              </a:lnSpc>
              <a:defRPr sz="1050">
                <a:solidFill>
                  <a:srgbClr val="1E2431"/>
                </a:solidFill>
                <a:latin typeface="Arial"/>
              </a:defRPr>
            </a:pPr>
            <a:r>
              <a:t>• Implement a mandatory digital reporting ledger for all bulk consumers (government, IT parks, hospitals) to file annual disposal records.</a:t>
            </a:r>
            <a:br/>
            <a:br/>
            <a:r>
              <a:t>• Conduct a statewide physical survey to update multipliers for mountain populations.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6F8"/>
        </a:solidFill>
        <a:effectLst/>
      </p:bgPr>
    </p:bg>
    <p:spTree>
      <p:nvGrpSpPr>
        <p:cNvPr id="1" name=""/>
        <p:cNvGrpSpPr/>
        <p:nvPr/>
      </p:nvGrpSpPr>
      <p:grpSpPr/>
      <p:sp>
        <p:nvSpPr>
          <p:cNvPr id="2" name="TextBox 1"/>
          <p:cNvSpPr txBox="1"/>
          <p:nvPr/>
        </p:nvSpPr>
        <p:spPr>
          <a:xfrm>
            <a:off x="548640" y="365760"/>
            <a:ext cx="11094415" cy="731520"/>
          </a:xfrm>
          <a:prstGeom prst="rect">
            <a:avLst/>
          </a:prstGeom>
          <a:noFill/>
        </p:spPr>
        <p:txBody>
          <a:bodyPr wrap="square" tIns="0" bIns="0" lIns="0" rIns="0">
            <a:spAutoFit/>
          </a:bodyPr>
          <a:lstStyle/>
          <a:p>
            <a:pPr>
              <a:defRPr sz="2400" b="1">
                <a:solidFill>
                  <a:srgbClr val="1E2431"/>
                </a:solidFill>
                <a:latin typeface="Georgia"/>
              </a:defRPr>
            </a:pPr>
            <a:r>
              <a:t>HP Can Transition to a Model Mountain Circular Economy</a:t>
            </a:r>
          </a:p>
        </p:txBody>
      </p:sp>
      <p:sp>
        <p:nvSpPr>
          <p:cNvPr id="3" name="Rectangle 2"/>
          <p:cNvSpPr/>
          <p:nvPr/>
        </p:nvSpPr>
        <p:spPr>
          <a:xfrm>
            <a:off x="548640" y="1097280"/>
            <a:ext cx="11094415" cy="2540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11094415" cy="365760"/>
          </a:xfrm>
          <a:prstGeom prst="rect">
            <a:avLst/>
          </a:prstGeom>
          <a:noFill/>
        </p:spPr>
        <p:txBody>
          <a:bodyPr wrap="square" tIns="0" bIns="0" lIns="0" rIns="0">
            <a:spAutoFit/>
          </a:bodyPr>
          <a:lstStyle/>
          <a:p>
            <a:pPr>
              <a:defRPr sz="1000">
                <a:solidFill>
                  <a:srgbClr val="646E7D"/>
                </a:solidFill>
                <a:latin typeface="Arial"/>
              </a:defRPr>
            </a:pPr>
            <a:r>
              <a:t>E-Waste in Himachal Pradesh: Classroom Presentation | State Tracker &amp; Report Analysis</a:t>
            </a:r>
          </a:p>
          <a:p>
            <a:pPr algn="r">
              <a:defRPr sz="900">
                <a:solidFill>
                  <a:srgbClr val="646E7D"/>
                </a:solidFill>
                <a:latin typeface="Arial"/>
              </a:defRPr>
            </a:pPr>
            <a:r>
              <a:t>Slide 12</a:t>
            </a:r>
          </a:p>
        </p:txBody>
      </p:sp>
      <p:sp>
        <p:nvSpPr>
          <p:cNvPr id="5" name="Rounded Rectangle 4"/>
          <p:cNvSpPr/>
          <p:nvPr/>
        </p:nvSpPr>
        <p:spPr>
          <a:xfrm>
            <a:off x="548640" y="1645920"/>
            <a:ext cx="5303520" cy="4114800"/>
          </a:xfrm>
          <a:prstGeom prst="roundRect">
            <a:avLst/>
          </a:prstGeom>
          <a:solidFill>
            <a:srgbClr val="FFFFFF"/>
          </a:solidFill>
          <a:ln w="31750">
            <a:solidFill>
              <a:srgbClr val="D32F2F"/>
            </a:solidFill>
          </a:ln>
        </p:spPr>
        <p:style>
          <a:lnRef idx="1">
            <a:schemeClr val="accent1"/>
          </a:lnRef>
          <a:fillRef idx="3">
            <a:schemeClr val="accent1"/>
          </a:fillRef>
          <a:effectRef idx="2">
            <a:schemeClr val="accent1"/>
          </a:effectRef>
          <a:fontRef idx="minor">
            <a:schemeClr val="lt1"/>
          </a:fontRef>
        </p:style>
        <p:txBody>
          <a:bodyPr rtlCol="0" anchor="ctr" wrap="square" tIns="182880" lIns="228600" rIns="228600"/>
          <a:lstStyle/>
          <a:p>
            <a:pPr algn="ctr">
              <a:spcAft>
                <a:spcPts val="2000"/>
              </a:spcAft>
              <a:defRPr sz="1300" b="1">
                <a:solidFill>
                  <a:srgbClr val="D32F2F"/>
                </a:solidFill>
                <a:latin typeface="Arial"/>
              </a:defRPr>
            </a:pPr>
            <a:r>
              <a:t>THE DOWNSTREAM-UPSTREAM BOTTLENECK</a:t>
            </a:r>
          </a:p>
          <a:p>
            <a:pPr>
              <a:spcAft>
                <a:spcPts val="1500"/>
              </a:spcAft>
              <a:defRPr sz="1200">
                <a:solidFill>
                  <a:srgbClr val="1E2431"/>
                </a:solidFill>
                <a:latin typeface="Arial"/>
              </a:defRPr>
            </a:pPr>
            <a:r>
              <a:t>• Recycler Capacity (20/20): High-quality downstream processing and certified treatment centers exist in industrial zones.</a:t>
            </a:r>
          </a:p>
          <a:p>
            <a:pPr>
              <a:spcAft>
                <a:spcPts val="1500"/>
              </a:spcAft>
              <a:defRPr sz="1200">
                <a:solidFill>
                  <a:srgbClr val="1E2431"/>
                </a:solidFill>
                <a:latin typeface="Arial"/>
              </a:defRPr>
            </a:pPr>
            <a:r>
              <a:t>• Collection Infrastructure (2.9/20): The processing facilities are running dry because the physical collection pathways are absent.</a:t>
            </a:r>
          </a:p>
          <a:p>
            <a:pPr>
              <a:defRPr sz="1200">
                <a:solidFill>
                  <a:srgbClr val="1E2431"/>
                </a:solidFill>
                <a:latin typeface="Arial"/>
              </a:defRPr>
            </a:pPr>
            <a:r>
              <a:t>• The Solution: Connecting the exit with an accessible entrance by building convenient municipal and retail collection portals.</a:t>
            </a:r>
          </a:p>
        </p:txBody>
      </p:sp>
      <p:sp>
        <p:nvSpPr>
          <p:cNvPr id="6" name="Rounded Rectangle 5"/>
          <p:cNvSpPr/>
          <p:nvPr/>
        </p:nvSpPr>
        <p:spPr>
          <a:xfrm>
            <a:off x="6309360" y="1645920"/>
            <a:ext cx="5303520" cy="4114800"/>
          </a:xfrm>
          <a:prstGeom prst="roundRect">
            <a:avLst/>
          </a:prstGeom>
          <a:solidFill>
            <a:srgbClr val="FFFFFF"/>
          </a:solidFill>
          <a:ln w="31750">
            <a:solidFill>
              <a:srgbClr val="106E41"/>
            </a:solidFill>
          </a:ln>
        </p:spPr>
        <p:style>
          <a:lnRef idx="1">
            <a:schemeClr val="accent1"/>
          </a:lnRef>
          <a:fillRef idx="3">
            <a:schemeClr val="accent1"/>
          </a:fillRef>
          <a:effectRef idx="2">
            <a:schemeClr val="accent1"/>
          </a:effectRef>
          <a:fontRef idx="minor">
            <a:schemeClr val="lt1"/>
          </a:fontRef>
        </p:style>
        <p:txBody>
          <a:bodyPr rtlCol="0" anchor="ctr" wrap="square" tIns="182880" lIns="228600" rIns="228600"/>
          <a:lstStyle/>
          <a:p>
            <a:pPr algn="ctr">
              <a:spcAft>
                <a:spcPts val="2000"/>
              </a:spcAft>
              <a:defRPr sz="1300" b="1">
                <a:solidFill>
                  <a:srgbClr val="106E41"/>
                </a:solidFill>
                <a:latin typeface="Arial"/>
              </a:defRPr>
            </a:pPr>
            <a:r>
              <a:t>ROADMAP TO A CIRCULAR MOUNTAIN ECOSYSTEM</a:t>
            </a:r>
          </a:p>
          <a:p>
            <a:pPr>
              <a:spcAft>
                <a:spcPts val="1200"/>
              </a:spcAft>
              <a:defRPr sz="1200">
                <a:solidFill>
                  <a:srgbClr val="1E2431"/>
                </a:solidFill>
                <a:latin typeface="Arial"/>
              </a:defRPr>
            </a:pPr>
            <a:r>
              <a:t>• Convenient Collection: Widespread municipal ward bins and point-of-sale retail drop-offs.</a:t>
            </a:r>
          </a:p>
          <a:p>
            <a:pPr>
              <a:spcAft>
                <a:spcPts val="1200"/>
              </a:spcAft>
              <a:defRPr sz="1200">
                <a:solidFill>
                  <a:srgbClr val="1E2431"/>
                </a:solidFill>
                <a:latin typeface="Arial"/>
              </a:defRPr>
            </a:pPr>
            <a:r>
              <a:t>• Informal Formalization: Converting unregulated scrap dealers into safe, financially incentivized collection partners.</a:t>
            </a:r>
          </a:p>
          <a:p>
            <a:pPr>
              <a:defRPr sz="1200">
                <a:solidFill>
                  <a:srgbClr val="1E2431"/>
                </a:solidFill>
                <a:latin typeface="Arial"/>
              </a:defRPr>
            </a:pPr>
            <a:r>
              <a:t>• Digital Accountability: Standard digital ledgers to eradicate data double-counting and target environmental policies effectively.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705BFBD7D7D0F459F2EB6DF2A577303" ma:contentTypeVersion="12" ma:contentTypeDescription="Create a new document." ma:contentTypeScope="" ma:versionID="8528867ffa347892931992dba061e8fc">
  <xsd:schema xmlns:xsd="http://www.w3.org/2001/XMLSchema" xmlns:xs="http://www.w3.org/2001/XMLSchema" xmlns:p="http://schemas.microsoft.com/office/2006/metadata/properties" xmlns:ns2="01a789ed-3b06-4a12-abcb-8250f314dd0b" xmlns:ns3="44678d20-5b6e-4792-b133-ca784477d689" targetNamespace="http://schemas.microsoft.com/office/2006/metadata/properties" ma:root="true" ma:fieldsID="3a6a2aa65aa1b5a2272dcd5b5e15d211" ns2:_="" ns3:_="">
    <xsd:import namespace="01a789ed-3b06-4a12-abcb-8250f314dd0b"/>
    <xsd:import namespace="44678d20-5b6e-4792-b133-ca784477d689"/>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1a789ed-3b06-4a12-abcb-8250f314dd0b"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65c09e8c-4242-4efc-8aa0-958213fa9c5a"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4678d20-5b6e-4792-b133-ca784477d68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9a17da5-126c-488b-b448-998f78a263bb}" ma:internalName="TaxCatchAll" ma:showField="CatchAllData" ma:web="44678d20-5b6e-4792-b133-ca784477d68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01a789ed-3b06-4a12-abcb-8250f314dd0b" xsi:nil="true"/>
    <lcf76f155ced4ddcb4097134ff3c332f xmlns="01a789ed-3b06-4a12-abcb-8250f314dd0b">
      <Terms xmlns="http://schemas.microsoft.com/office/infopath/2007/PartnerControls"/>
    </lcf76f155ced4ddcb4097134ff3c332f>
    <TaxCatchAll xmlns="44678d20-5b6e-4792-b133-ca784477d689" xsi:nil="true"/>
  </documentManagement>
</p:properties>
</file>

<file path=customXml/itemProps1.xml><?xml version="1.0" encoding="utf-8"?>
<ds:datastoreItem xmlns:ds="http://schemas.openxmlformats.org/officeDocument/2006/customXml" ds:itemID="{51D8BAF2-FDDA-45CD-AC6A-6A83FFD04453}"/>
</file>

<file path=customXml/itemProps2.xml><?xml version="1.0" encoding="utf-8"?>
<ds:datastoreItem xmlns:ds="http://schemas.openxmlformats.org/officeDocument/2006/customXml" ds:itemID="{FC19B5F7-151B-45B0-99CC-5A5C16619AF5}"/>
</file>

<file path=customXml/itemProps3.xml><?xml version="1.0" encoding="utf-8"?>
<ds:datastoreItem xmlns:ds="http://schemas.openxmlformats.org/officeDocument/2006/customXml" ds:itemID="{1A785026-675A-400A-945A-B068C71D39B8}"/>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0x0101003705BFBD7D7D0F459F2EB6DF2A577303</vt:lpwstr>
  </property>
</Properties>
</file>